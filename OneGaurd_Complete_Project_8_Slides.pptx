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806440"/>
          </a:xfrm>
          <a:prstGeom prst="rect">
            <a:avLst/>
          </a:prstGeom>
          <a:solidFill>
            <a:srgbClr val="19D3BE"/>
          </a:solidFill>
          <a:ln w="12700">
            <a:solidFill>
              <a:srgbClr val="19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9436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19D3BE"/>
                </a:solidFill>
                <a:latin typeface="Aptos"/>
              </a:defRPr>
            </a:pPr>
            <a:r>
              <a:t>ONEGAURD  •  FINAL YEAR ENGINEERING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658368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3500" b="1" i="0">
                <a:solidFill>
                  <a:srgbClr val="EEF5FC"/>
                </a:solidFill>
                <a:latin typeface="Aptos"/>
              </a:defRPr>
            </a:pPr>
            <a:r>
              <a:t>SMART LPG</a:t>
            </a:r>
          </a:p>
          <a:p>
            <a:pPr algn="l">
              <a:spcAft>
                <a:spcPts val="400"/>
              </a:spcAft>
              <a:defRPr sz="3500" b="1" i="0">
                <a:solidFill>
                  <a:srgbClr val="EEF5FC"/>
                </a:solidFill>
                <a:latin typeface="Aptos"/>
              </a:defRPr>
            </a:pPr>
            <a:r>
              <a:t>SAFETY 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16352"/>
            <a:ext cx="6035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800" b="0" i="0">
                <a:solidFill>
                  <a:srgbClr val="9CAEC3"/>
                </a:solidFill>
                <a:latin typeface="Aptos"/>
              </a:defRPr>
            </a:pPr>
            <a:r>
              <a:t>Leak detection  •  Gas-weight monitoring</a:t>
            </a:r>
          </a:p>
          <a:p>
            <a:pPr algn="l">
              <a:spcAft>
                <a:spcPts val="400"/>
              </a:spcAft>
              <a:defRPr sz="1800" b="0" i="0">
                <a:solidFill>
                  <a:srgbClr val="9CAEC3"/>
                </a:solidFill>
                <a:latin typeface="Aptos"/>
              </a:defRPr>
            </a:pPr>
            <a:r>
              <a:t>Cloud alerts  •  Refill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749039"/>
            <a:ext cx="1188720" cy="29260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19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3762755"/>
            <a:ext cx="10789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19D3BE"/>
                </a:solidFill>
                <a:latin typeface="Aptos"/>
              </a:defRPr>
            </a:pPr>
            <a:r>
              <a:t>ESP32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3749039"/>
            <a:ext cx="1234440" cy="29260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19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95144" y="3762755"/>
            <a:ext cx="112471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19D3BE"/>
                </a:solidFill>
                <a:latin typeface="Aptos"/>
              </a:defRPr>
            </a:pPr>
            <a:r>
              <a:t>MQ-6 SENSOR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3749039"/>
            <a:ext cx="1280160" cy="29260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4F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3762755"/>
            <a:ext cx="1170431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4FA4FF"/>
                </a:solidFill>
                <a:latin typeface="Aptos"/>
              </a:defRPr>
            </a:pPr>
            <a:r>
              <a:t>LOAD CELLS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3749039"/>
            <a:ext cx="1325880" cy="29260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2CD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84064" y="3762755"/>
            <a:ext cx="121615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2CD39A"/>
                </a:solidFill>
                <a:latin typeface="Aptos"/>
              </a:defRPr>
            </a:pPr>
            <a:r>
              <a:t>FIREBASE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34840"/>
            <a:ext cx="56692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EEF5FC"/>
                </a:solidFill>
                <a:latin typeface="Aptos"/>
              </a:defRPr>
            </a:pPr>
            <a:r>
              <a:t>Piyush Rohidas Sonawane (453)</a:t>
            </a:r>
          </a:p>
          <a:p>
            <a:pPr algn="l">
              <a:spcAft>
                <a:spcPts val="400"/>
              </a:spcAft>
              <a:defRPr sz="1300" b="0" i="0">
                <a:solidFill>
                  <a:srgbClr val="EEF5FC"/>
                </a:solidFill>
                <a:latin typeface="Aptos"/>
              </a:defRPr>
            </a:pPr>
            <a:r>
              <a:t>Gaurav Dattatray Shinde (449)</a:t>
            </a:r>
          </a:p>
          <a:p>
            <a:pPr algn="l">
              <a:spcAft>
                <a:spcPts val="400"/>
              </a:spcAft>
              <a:defRPr sz="1300" b="0" i="0">
                <a:solidFill>
                  <a:srgbClr val="EEF5FC"/>
                </a:solidFill>
                <a:latin typeface="Aptos"/>
              </a:defRPr>
            </a:pPr>
            <a:r>
              <a:t>Sakshi Dnyaneshwar Shinde (450)</a:t>
            </a:r>
          </a:p>
          <a:p>
            <a:pPr algn="l">
              <a:spcAft>
                <a:spcPts val="400"/>
              </a:spcAft>
              <a:defRPr sz="1300" b="0" i="0">
                <a:solidFill>
                  <a:srgbClr val="EEF5FC"/>
                </a:solidFill>
                <a:latin typeface="Aptos"/>
              </a:defRPr>
            </a:pPr>
            <a:r>
              <a:t>Shailaja Ashok Sargam (443)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2531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9CAEC3"/>
                </a:solidFill>
                <a:latin typeface="Aptos"/>
              </a:defRPr>
            </a:pPr>
            <a:r>
              <a:t>Guide: Prof. S. P. Tapkire  |  NBNSCOE, Solapur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594360"/>
            <a:ext cx="4343400" cy="5623560"/>
          </a:xfrm>
          <a:prstGeom prst="roundRect">
            <a:avLst/>
          </a:prstGeom>
          <a:solidFill>
            <a:srgbClr val="0F1B2E"/>
          </a:solidFill>
          <a:ln w="12700">
            <a:solidFill>
              <a:srgbClr val="24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3489" y="758952"/>
            <a:ext cx="3286820" cy="33375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589520" y="4224528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19D3BE"/>
                </a:solidFill>
                <a:latin typeface="Aptos"/>
              </a:defRPr>
            </a:pPr>
            <a:r>
              <a:t>PHYSICAL PROTOTYPE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4645152"/>
            <a:ext cx="3657600" cy="10515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400"/>
              </a:spcAft>
              <a:defRPr sz="1600" b="1" i="0">
                <a:solidFill>
                  <a:srgbClr val="EEF5FC"/>
                </a:solidFill>
                <a:latin typeface="Aptos"/>
              </a:defRPr>
            </a:pPr>
            <a:r>
              <a:t>A retrofit platform combining</a:t>
            </a:r>
          </a:p>
          <a:p>
            <a:pPr algn="ctr">
              <a:spcAft>
                <a:spcPts val="400"/>
              </a:spcAft>
              <a:defRPr sz="1600" b="1" i="0">
                <a:solidFill>
                  <a:srgbClr val="EEF5FC"/>
                </a:solidFill>
                <a:latin typeface="Aptos"/>
              </a:defRPr>
            </a:pPr>
            <a:r>
              <a:t>weight measurement and gas sensing.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5760720"/>
            <a:ext cx="2103120" cy="29260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19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67344" y="5774436"/>
            <a:ext cx="1993391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19D3BE"/>
                </a:solidFill>
                <a:latin typeface="Aptos"/>
              </a:defRPr>
            </a:pPr>
            <a:r>
              <a:t>PROJECT OVERVIEW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19D3BE"/>
                </a:solidFill>
                <a:latin typeface="Aptos"/>
              </a:defRPr>
            </a:pPr>
            <a:r>
              <a:t>ONEGAURD  /  SMART LPG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16459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9CAEC3"/>
                </a:solidFill>
                <a:latin typeface="Aptos"/>
              </a:defRPr>
            </a:pPr>
            <a:r>
              <a:t>02 / 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02920"/>
            <a:ext cx="11338560" cy="16459"/>
          </a:xfrm>
          <a:prstGeom prst="rect">
            <a:avLst/>
          </a:prstGeom>
          <a:solidFill>
            <a:srgbClr val="243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2500" b="1" i="0">
                <a:solidFill>
                  <a:srgbClr val="EEF5FC"/>
                </a:solidFill>
                <a:latin typeface="Aptos"/>
              </a:defRPr>
            </a:pPr>
            <a:r>
              <a:t>The Problem &amp; Our 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97280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9CAEC3"/>
                </a:solidFill>
                <a:latin typeface="Aptos"/>
              </a:defRPr>
            </a:pPr>
            <a:r>
              <a:t>One device, three connected capabilities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74536"/>
            <a:ext cx="11338560" cy="22860"/>
          </a:xfrm>
          <a:prstGeom prst="rect">
            <a:avLst/>
          </a:prstGeom>
          <a:solidFill>
            <a:srgbClr val="19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572768"/>
            <a:ext cx="3520440" cy="4526280"/>
          </a:xfrm>
          <a:prstGeom prst="roundRect">
            <a:avLst/>
          </a:prstGeom>
          <a:solidFill>
            <a:srgbClr val="0F1B2E"/>
          </a:solidFill>
          <a:ln w="12700">
            <a:solidFill>
              <a:srgbClr val="24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10512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F54C53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04288"/>
            <a:ext cx="2971800" cy="3383280"/>
          </a:xfrm>
          <a:prstGeom prst="rect">
            <a:avLst/>
          </a:prstGeom>
          <a:noFill/>
        </p:spPr>
        <p:txBody>
          <a:bodyPr wrap="square" rIns="45720" tIns="36576" bIns="18288">
            <a:spAutoFit/>
          </a:bodyPr>
          <a:lstStyle/>
          <a:p>
            <a:pPr>
              <a:buChar char="•"/>
              <a:spcAft>
                <a:spcPts val="900"/>
              </a:spcAft>
              <a:defRPr sz="1400">
                <a:solidFill>
                  <a:srgbClr val="EEF5FC"/>
                </a:solidFill>
                <a:latin typeface="Aptos"/>
              </a:defRPr>
            </a:pPr>
            <a:r>
              <a:t>Users may not know how much LPG remains.</a:t>
            </a:r>
          </a:p>
          <a:p>
            <a:pPr>
              <a:buChar char="•"/>
              <a:spcAft>
                <a:spcPts val="900"/>
              </a:spcAft>
              <a:defRPr sz="1400">
                <a:solidFill>
                  <a:srgbClr val="EEF5FC"/>
                </a:solidFill>
                <a:latin typeface="Aptos"/>
              </a:defRPr>
            </a:pPr>
            <a:r>
              <a:t>A developing leak needs a rapid local warning.</a:t>
            </a:r>
          </a:p>
          <a:p>
            <a:pPr>
              <a:buChar char="•"/>
              <a:spcAft>
                <a:spcPts val="900"/>
              </a:spcAft>
              <a:defRPr sz="1400">
                <a:solidFill>
                  <a:srgbClr val="EEF5FC"/>
                </a:solidFill>
                <a:latin typeface="Aptos"/>
              </a:defRPr>
            </a:pPr>
            <a:r>
              <a:t>Standalone alarms often do not provide weight history or refill estimates.</a:t>
            </a:r>
          </a:p>
          <a:p>
            <a:pPr>
              <a:buChar char="•"/>
              <a:spcAft>
                <a:spcPts val="900"/>
              </a:spcAft>
              <a:defRPr sz="1400">
                <a:solidFill>
                  <a:srgbClr val="EEF5FC"/>
                </a:solidFill>
                <a:latin typeface="Aptos"/>
              </a:defRPr>
            </a:pPr>
            <a:r>
              <a:t>Connectivity failures must not disable local safety.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572768"/>
            <a:ext cx="3520440" cy="4526280"/>
          </a:xfrm>
          <a:prstGeom prst="roundRect">
            <a:avLst/>
          </a:prstGeom>
          <a:solidFill>
            <a:srgbClr val="0F1B2E"/>
          </a:solidFill>
          <a:ln w="12700">
            <a:solidFill>
              <a:srgbClr val="24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10512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19D3BE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04288"/>
            <a:ext cx="2971800" cy="3383280"/>
          </a:xfrm>
          <a:prstGeom prst="rect">
            <a:avLst/>
          </a:prstGeom>
          <a:noFill/>
        </p:spPr>
        <p:txBody>
          <a:bodyPr wrap="square" rIns="45720" tIns="36576" bIns="18288">
            <a:spAutoFit/>
          </a:bodyPr>
          <a:lstStyle/>
          <a:p>
            <a:pPr>
              <a:buChar char="•"/>
              <a:spcAft>
                <a:spcPts val="900"/>
              </a:spcAft>
              <a:defRPr sz="1400">
                <a:solidFill>
                  <a:srgbClr val="EEF5FC"/>
                </a:solidFill>
                <a:latin typeface="Aptos"/>
              </a:defRPr>
            </a:pPr>
            <a:r>
              <a:t>MQ-6 sensor signal for suspected LPG leak detection.</a:t>
            </a:r>
          </a:p>
          <a:p>
            <a:pPr>
              <a:buChar char="•"/>
              <a:spcAft>
                <a:spcPts val="900"/>
              </a:spcAft>
              <a:defRPr sz="1400">
                <a:solidFill>
                  <a:srgbClr val="EEF5FC"/>
                </a:solidFill>
                <a:latin typeface="Aptos"/>
              </a:defRPr>
            </a:pPr>
            <a:r>
              <a:t>Load cells + HX711 for mass measurement.</a:t>
            </a:r>
          </a:p>
          <a:p>
            <a:pPr>
              <a:buChar char="•"/>
              <a:spcAft>
                <a:spcPts val="900"/>
              </a:spcAft>
              <a:defRPr sz="1400">
                <a:solidFill>
                  <a:srgbClr val="EEF5FC"/>
                </a:solidFill>
                <a:latin typeface="Aptos"/>
              </a:defRPr>
            </a:pPr>
            <a:r>
              <a:t>ESP32 runs local logic and uploads telemetry over Wi-Fi.</a:t>
            </a:r>
          </a:p>
          <a:p>
            <a:pPr>
              <a:buChar char="•"/>
              <a:spcAft>
                <a:spcPts val="900"/>
              </a:spcAft>
              <a:defRPr sz="1400">
                <a:solidFill>
                  <a:srgbClr val="EEF5FC"/>
                </a:solidFill>
                <a:latin typeface="Aptos"/>
              </a:defRPr>
            </a:pPr>
            <a:r>
              <a:t>Mobile dashboard shows status, weight, events and refill estimate.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72768"/>
            <a:ext cx="3520440" cy="4526280"/>
          </a:xfrm>
          <a:prstGeom prst="roundRect">
            <a:avLst/>
          </a:prstGeom>
          <a:solidFill>
            <a:srgbClr val="0F1B2E"/>
          </a:solidFill>
          <a:ln w="12700">
            <a:solidFill>
              <a:srgbClr val="24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810512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FFAA37"/>
                </a:solidFill>
                <a:latin typeface="Aptos"/>
              </a:defRPr>
            </a:pPr>
            <a:r>
              <a:t>ENGINEERING PRINCIPLE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304288"/>
            <a:ext cx="2971800" cy="3383280"/>
          </a:xfrm>
          <a:prstGeom prst="rect">
            <a:avLst/>
          </a:prstGeom>
          <a:noFill/>
        </p:spPr>
        <p:txBody>
          <a:bodyPr wrap="square" rIns="45720" tIns="36576" bIns="18288">
            <a:spAutoFit/>
          </a:bodyPr>
          <a:lstStyle/>
          <a:p>
            <a:pPr>
              <a:buChar char="•"/>
              <a:spcAft>
                <a:spcPts val="900"/>
              </a:spcAft>
              <a:defRPr sz="1400">
                <a:solidFill>
                  <a:srgbClr val="EEF5FC"/>
                </a:solidFill>
                <a:latin typeface="Aptos"/>
              </a:defRPr>
            </a:pPr>
            <a:r>
              <a:t>Local alarm first; cloud is supplemental.</a:t>
            </a:r>
          </a:p>
          <a:p>
            <a:pPr>
              <a:buChar char="•"/>
              <a:spcAft>
                <a:spcPts val="900"/>
              </a:spcAft>
              <a:defRPr sz="1400">
                <a:solidFill>
                  <a:srgbClr val="EEF5FC"/>
                </a:solidFill>
                <a:latin typeface="Aptos"/>
              </a:defRPr>
            </a:pPr>
            <a:r>
              <a:t>Use tare correction for a real cylinder.</a:t>
            </a:r>
          </a:p>
          <a:p>
            <a:pPr>
              <a:buChar char="•"/>
              <a:spcAft>
                <a:spcPts val="900"/>
              </a:spcAft>
              <a:defRPr sz="1400">
                <a:solidFill>
                  <a:srgbClr val="EEF5FC"/>
                </a:solidFill>
                <a:latin typeface="Aptos"/>
              </a:defRPr>
            </a:pPr>
            <a:r>
              <a:t>Label demo values separately from live measurements.</a:t>
            </a:r>
          </a:p>
          <a:p>
            <a:pPr>
              <a:buChar char="•"/>
              <a:spcAft>
                <a:spcPts val="900"/>
              </a:spcAft>
              <a:defRPr sz="1400">
                <a:solidFill>
                  <a:srgbClr val="EEF5FC"/>
                </a:solidFill>
                <a:latin typeface="Aptos"/>
              </a:defRPr>
            </a:pPr>
            <a:r>
              <a:t>Prototype is not certified safety equipment.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19D3BE"/>
                </a:solidFill>
                <a:latin typeface="Aptos"/>
              </a:defRPr>
            </a:pPr>
            <a:r>
              <a:t>ONEGAURD  /  SMART LPG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16459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9CAEC3"/>
                </a:solidFill>
                <a:latin typeface="Aptos"/>
              </a:defRPr>
            </a:pPr>
            <a:r>
              <a:t>03 / 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02920"/>
            <a:ext cx="11338560" cy="16459"/>
          </a:xfrm>
          <a:prstGeom prst="rect">
            <a:avLst/>
          </a:prstGeom>
          <a:solidFill>
            <a:srgbClr val="243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2500" b="1" i="0">
                <a:solidFill>
                  <a:srgbClr val="EEF5FC"/>
                </a:solidFill>
                <a:latin typeface="Aptos"/>
              </a:defRPr>
            </a:pPr>
            <a:r>
              <a:t>End-to-End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97280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9CAEC3"/>
                </a:solidFill>
                <a:latin typeface="Aptos"/>
              </a:defRPr>
            </a:pPr>
            <a:r>
              <a:t>Hardware → secure backend → per-user live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74536"/>
            <a:ext cx="11338560" cy="22860"/>
          </a:xfrm>
          <a:prstGeom prst="rect">
            <a:avLst/>
          </a:prstGeom>
          <a:solidFill>
            <a:srgbClr val="19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572768"/>
            <a:ext cx="2743200" cy="4526280"/>
          </a:xfrm>
          <a:prstGeom prst="roundRect">
            <a:avLst/>
          </a:prstGeom>
          <a:solidFill>
            <a:srgbClr val="0F1B2E"/>
          </a:solidFill>
          <a:ln w="12700">
            <a:solidFill>
              <a:srgbClr val="24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8308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9D3BE"/>
                </a:solidFill>
                <a:latin typeface="Aptos"/>
              </a:defRPr>
            </a:pPr>
            <a:r>
              <a:t>1  DEVICE LAYER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68" y="2212848"/>
            <a:ext cx="1891047" cy="1920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4251960"/>
            <a:ext cx="2286000" cy="1463040"/>
          </a:xfrm>
          <a:prstGeom prst="rect">
            <a:avLst/>
          </a:prstGeom>
          <a:noFill/>
        </p:spPr>
        <p:txBody>
          <a:bodyPr wrap="square" rIns="45720" tIns="36576" bIns="18288">
            <a:spAutoFit/>
          </a:bodyPr>
          <a:lstStyle/>
          <a:p>
            <a:pPr>
              <a:buChar char="•"/>
              <a:spcAft>
                <a:spcPts val="400"/>
              </a:spcAft>
              <a:defRPr sz="1200">
                <a:solidFill>
                  <a:srgbClr val="EEF5FC"/>
                </a:solidFill>
                <a:latin typeface="Aptos"/>
              </a:defRPr>
            </a:pPr>
            <a:r>
              <a:t>ESP32</a:t>
            </a:r>
          </a:p>
          <a:p>
            <a:pPr>
              <a:buChar char="•"/>
              <a:spcAft>
                <a:spcPts val="400"/>
              </a:spcAft>
              <a:defRPr sz="1200">
                <a:solidFill>
                  <a:srgbClr val="EEF5FC"/>
                </a:solidFill>
                <a:latin typeface="Aptos"/>
              </a:defRPr>
            </a:pPr>
            <a:r>
              <a:t>MQ-6 + load cells/HX711</a:t>
            </a:r>
          </a:p>
          <a:p>
            <a:pPr>
              <a:buChar char="•"/>
              <a:spcAft>
                <a:spcPts val="400"/>
              </a:spcAft>
              <a:defRPr sz="1200">
                <a:solidFill>
                  <a:srgbClr val="EEF5FC"/>
                </a:solidFill>
                <a:latin typeface="Aptos"/>
              </a:defRPr>
            </a:pPr>
            <a:r>
              <a:t>Buzzer / status 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292608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2700" b="1" i="0">
                <a:solidFill>
                  <a:srgbClr val="19D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1572768"/>
            <a:ext cx="2743200" cy="4526280"/>
          </a:xfrm>
          <a:prstGeom prst="roundRect">
            <a:avLst/>
          </a:prstGeom>
          <a:solidFill>
            <a:srgbClr val="0F1B2E"/>
          </a:solidFill>
          <a:ln w="12700">
            <a:solidFill>
              <a:srgbClr val="24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33087" y="178308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4FA4FF"/>
                </a:solidFill>
                <a:latin typeface="Aptos"/>
              </a:defRPr>
            </a:pPr>
            <a:r>
              <a:t>2  API &amp; CLOUD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2304288"/>
            <a:ext cx="2057400" cy="56692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4F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9392" y="2359152"/>
            <a:ext cx="1947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EEF5FC"/>
                </a:solidFill>
                <a:latin typeface="Aptos"/>
              </a:defRPr>
            </a:pPr>
            <a:r>
              <a:t>Node.js / Express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24528" y="3127248"/>
            <a:ext cx="2057400" cy="56692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19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9392" y="3182112"/>
            <a:ext cx="1947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EEF5FC"/>
                </a:solidFill>
                <a:latin typeface="Aptos"/>
              </a:defRPr>
            </a:pPr>
            <a:r>
              <a:t>Firebase RTDB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24528" y="3950208"/>
            <a:ext cx="2057400" cy="56692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2CD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9392" y="4005072"/>
            <a:ext cx="1947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000" b="1" i="0">
                <a:solidFill>
                  <a:srgbClr val="EEF5FC"/>
                </a:solidFill>
                <a:latin typeface="Aptos"/>
              </a:defRPr>
            </a:pPr>
            <a:r>
              <a:t>Firebase Auth / Firestore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4800600"/>
            <a:ext cx="2240280" cy="914400"/>
          </a:xfrm>
          <a:prstGeom prst="rect">
            <a:avLst/>
          </a:prstGeom>
          <a:noFill/>
        </p:spPr>
        <p:txBody>
          <a:bodyPr wrap="square" rIns="45720" tIns="36576" bIns="18288">
            <a:spAutoFit/>
          </a:bodyPr>
          <a:lstStyle/>
          <a:p>
            <a:pPr>
              <a:buChar char="•"/>
              <a:spcAft>
                <a:spcPts val="300"/>
              </a:spcAft>
              <a:defRPr sz="1100">
                <a:solidFill>
                  <a:srgbClr val="EEF5FC"/>
                </a:solidFill>
                <a:latin typeface="Aptos"/>
              </a:defRPr>
            </a:pPr>
            <a:r>
              <a:t>Validate device secret</a:t>
            </a:r>
          </a:p>
          <a:p>
            <a:pPr>
              <a:buChar char="•"/>
              <a:spcAft>
                <a:spcPts val="300"/>
              </a:spcAft>
              <a:defRPr sz="1100">
                <a:solidFill>
                  <a:srgbClr val="EEF5FC"/>
                </a:solidFill>
                <a:latin typeface="Aptos"/>
              </a:defRPr>
            </a:pPr>
            <a:r>
              <a:t>Enforce user ownership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1696" y="292608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2700" b="1" i="0">
                <a:solidFill>
                  <a:srgbClr val="19D3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9480" y="1572768"/>
            <a:ext cx="4407408" cy="4526280"/>
          </a:xfrm>
          <a:prstGeom prst="roundRect">
            <a:avLst/>
          </a:prstGeom>
          <a:solidFill>
            <a:srgbClr val="0F1B2E"/>
          </a:solidFill>
          <a:ln w="12700">
            <a:solidFill>
              <a:srgbClr val="24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8" y="178308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9D3BE"/>
                </a:solidFill>
                <a:latin typeface="Aptos"/>
              </a:defRPr>
            </a:pPr>
            <a:r>
              <a:t>3  USER EXPERIENCE &amp; ALERTS</a:t>
            </a:r>
          </a:p>
        </p:txBody>
      </p:sp>
      <p:pic>
        <p:nvPicPr>
          <p:cNvPr id="25" name="Picture 24" descr="oneguard_dashboard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2" y="2223003"/>
            <a:ext cx="3977639" cy="180848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516368" y="4251960"/>
            <a:ext cx="3840480" cy="1554480"/>
          </a:xfrm>
          <a:prstGeom prst="rect">
            <a:avLst/>
          </a:prstGeom>
          <a:noFill/>
        </p:spPr>
        <p:txBody>
          <a:bodyPr wrap="square" rIns="45720" tIns="36576" bIns="18288">
            <a:spAutoFit/>
          </a:bodyPr>
          <a:lstStyle/>
          <a:p>
            <a:pPr>
              <a:buChar char="•"/>
              <a:spcAft>
                <a:spcPts val="400"/>
              </a:spcAft>
              <a:defRPr sz="1200">
                <a:solidFill>
                  <a:srgbClr val="EEF5FC"/>
                </a:solidFill>
                <a:latin typeface="Aptos"/>
              </a:defRPr>
            </a:pPr>
            <a:r>
              <a:t>React Native Web / PWA dashboard</a:t>
            </a:r>
          </a:p>
          <a:p>
            <a:pPr>
              <a:buChar char="•"/>
              <a:spcAft>
                <a:spcPts val="400"/>
              </a:spcAft>
              <a:defRPr sz="1200">
                <a:solidFill>
                  <a:srgbClr val="EEF5FC"/>
                </a:solidFill>
                <a:latin typeface="Aptos"/>
              </a:defRPr>
            </a:pPr>
            <a:r>
              <a:t>Latest state, history, device health</a:t>
            </a:r>
          </a:p>
          <a:p>
            <a:pPr>
              <a:buChar char="•"/>
              <a:spcAft>
                <a:spcPts val="400"/>
              </a:spcAft>
              <a:defRPr sz="1200">
                <a:solidFill>
                  <a:srgbClr val="EEF5FC"/>
                </a:solidFill>
                <a:latin typeface="Aptos"/>
              </a:defRPr>
            </a:pPr>
            <a:r>
              <a:t>Twilio voice call + SMS (optional, configured)</a:t>
            </a:r>
          </a:p>
          <a:p>
            <a:pPr>
              <a:buChar char="•"/>
              <a:spcAft>
                <a:spcPts val="400"/>
              </a:spcAft>
              <a:defRPr sz="1200">
                <a:solidFill>
                  <a:srgbClr val="EEF5FC"/>
                </a:solidFill>
                <a:latin typeface="Aptos"/>
              </a:defRPr>
            </a:pPr>
            <a:r>
              <a:t>Provider/network failures must be logged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19D3BE"/>
                </a:solidFill>
                <a:latin typeface="Aptos"/>
              </a:defRPr>
            </a:pPr>
            <a:r>
              <a:t>ONEGAURD  /  SMART LPG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16459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9CAEC3"/>
                </a:solidFill>
                <a:latin typeface="Aptos"/>
              </a:defRPr>
            </a:pPr>
            <a:r>
              <a:t>04 / 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02920"/>
            <a:ext cx="11338560" cy="16459"/>
          </a:xfrm>
          <a:prstGeom prst="rect">
            <a:avLst/>
          </a:prstGeom>
          <a:solidFill>
            <a:srgbClr val="243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2500" b="1" i="0">
                <a:solidFill>
                  <a:srgbClr val="EEF5FC"/>
                </a:solidFill>
                <a:latin typeface="Aptos"/>
              </a:defRPr>
            </a:pPr>
            <a:r>
              <a:t>Hardware &amp; Mechanical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97280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9CAEC3"/>
                </a:solidFill>
                <a:latin typeface="Aptos"/>
              </a:defRPr>
            </a:pPr>
            <a:r>
              <a:t>Prototype elements and measurement chain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74536"/>
            <a:ext cx="11338560" cy="22860"/>
          </a:xfrm>
          <a:prstGeom prst="rect">
            <a:avLst/>
          </a:prstGeom>
          <a:solidFill>
            <a:srgbClr val="19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572768"/>
            <a:ext cx="5303520" cy="4526280"/>
          </a:xfrm>
          <a:prstGeom prst="roundRect">
            <a:avLst/>
          </a:prstGeom>
          <a:solidFill>
            <a:srgbClr val="0F1B2E"/>
          </a:solidFill>
          <a:ln w="12700">
            <a:solidFill>
              <a:srgbClr val="24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329" y="1810512"/>
            <a:ext cx="3331845" cy="3383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321808"/>
            <a:ext cx="47548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100" b="0" i="0">
                <a:solidFill>
                  <a:srgbClr val="9CAEC3"/>
                </a:solidFill>
                <a:latin typeface="Aptos"/>
              </a:defRPr>
            </a:pPr>
            <a:r>
              <a:t>Prototype photo: ring/platform, support frame, load-cell arrangement and ESP32 wiring.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3328" y="1572768"/>
            <a:ext cx="5623560" cy="4526280"/>
          </a:xfrm>
          <a:prstGeom prst="roundRect">
            <a:avLst/>
          </a:prstGeom>
          <a:solidFill>
            <a:srgbClr val="0F1B2E"/>
          </a:solidFill>
          <a:ln w="12700">
            <a:solidFill>
              <a:srgbClr val="24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81051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19D3BE"/>
                </a:solidFill>
                <a:latin typeface="Aptos"/>
              </a:defRPr>
            </a:pPr>
            <a:r>
              <a:t>COMPONENT ROLES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286000"/>
            <a:ext cx="5029200" cy="3429000"/>
          </a:xfrm>
          <a:prstGeom prst="rect">
            <a:avLst/>
          </a:prstGeom>
          <a:noFill/>
        </p:spPr>
        <p:txBody>
          <a:bodyPr wrap="square" rIns="45720" tIns="36576" bIns="18288">
            <a:spAutoFit/>
          </a:bodyPr>
          <a:lstStyle/>
          <a:p>
            <a:pPr>
              <a:buChar char="•"/>
              <a:spcAft>
                <a:spcPts val="6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ESP32: sensor sampling, local decisions and Wi-Fi.</a:t>
            </a:r>
          </a:p>
          <a:p>
            <a:pPr>
              <a:buChar char="•"/>
              <a:spcAft>
                <a:spcPts val="6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MQ-6: combustible-gas sensor; warm-up and calibration required.</a:t>
            </a:r>
          </a:p>
          <a:p>
            <a:pPr>
              <a:buChar char="•"/>
              <a:spcAft>
                <a:spcPts val="6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Load cells + HX711: strain-gauge mass measurement.</a:t>
            </a:r>
          </a:p>
          <a:p>
            <a:pPr>
              <a:buChar char="•"/>
              <a:spcAft>
                <a:spcPts val="6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Buzzer/LED: local warning independent of the cloud.</a:t>
            </a:r>
          </a:p>
          <a:p>
            <a:pPr>
              <a:buChar char="•"/>
              <a:spcAft>
                <a:spcPts val="6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Mechanical platform: stable load paths, anti-slip support and low off-centre error.</a:t>
            </a:r>
          </a:p>
          <a:p>
            <a:pPr>
              <a:buChar char="•"/>
              <a:spcAft>
                <a:spcPts val="6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Optional DHT22, OLED, backup battery and GSM must be labelled proposed unless installed.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19D3BE"/>
                </a:solidFill>
                <a:latin typeface="Aptos"/>
              </a:defRPr>
            </a:pPr>
            <a:r>
              <a:t>ONEGAURD  /  SMART LPG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16459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9CAEC3"/>
                </a:solidFill>
                <a:latin typeface="Aptos"/>
              </a:defRPr>
            </a:pPr>
            <a:r>
              <a:t>05 / 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02920"/>
            <a:ext cx="11338560" cy="16459"/>
          </a:xfrm>
          <a:prstGeom prst="rect">
            <a:avLst/>
          </a:prstGeom>
          <a:solidFill>
            <a:srgbClr val="243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2500" b="1" i="0">
                <a:solidFill>
                  <a:srgbClr val="EEF5FC"/>
                </a:solidFill>
                <a:latin typeface="Aptos"/>
              </a:defRPr>
            </a:pPr>
            <a:r>
              <a:t>Firmware Workflow &amp; Safety State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97280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9CAEC3"/>
                </a:solidFill>
                <a:latin typeface="Aptos"/>
              </a:defRPr>
            </a:pPr>
            <a:r>
              <a:t>Local response is independent of internet connectivity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74536"/>
            <a:ext cx="11338560" cy="22860"/>
          </a:xfrm>
          <a:prstGeom prst="rect">
            <a:avLst/>
          </a:prstGeom>
          <a:solidFill>
            <a:srgbClr val="19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572768"/>
            <a:ext cx="5212080" cy="4526280"/>
          </a:xfrm>
          <a:prstGeom prst="roundRect">
            <a:avLst/>
          </a:prstGeom>
          <a:solidFill>
            <a:srgbClr val="0F1B2E"/>
          </a:solidFill>
          <a:ln w="12700">
            <a:solidFill>
              <a:srgbClr val="24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per_fig3_firmware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930278"/>
            <a:ext cx="4800600" cy="323518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394960"/>
            <a:ext cx="46634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9CAEC3"/>
                </a:solidFill>
                <a:latin typeface="Aptos"/>
              </a:defRPr>
            </a:pPr>
            <a:r>
              <a:t>Firmware flowchart from the supplied research paper.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61888" y="1572768"/>
            <a:ext cx="5715000" cy="4526280"/>
          </a:xfrm>
          <a:prstGeom prst="roundRect">
            <a:avLst/>
          </a:prstGeom>
          <a:solidFill>
            <a:srgbClr val="0F1B2E"/>
          </a:solidFill>
          <a:ln w="12700">
            <a:solidFill>
              <a:srgbClr val="24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181051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19D3BE"/>
                </a:solidFill>
                <a:latin typeface="Aptos"/>
              </a:defRPr>
            </a:pPr>
            <a:r>
              <a:t>LOCAL SAFETY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2286000"/>
            <a:ext cx="5074920" cy="3383280"/>
          </a:xfrm>
          <a:prstGeom prst="rect">
            <a:avLst/>
          </a:prstGeom>
          <a:noFill/>
        </p:spPr>
        <p:txBody>
          <a:bodyPr wrap="square" rIns="45720" tIns="36576" bIns="18288">
            <a:spAutoFit/>
          </a:bodyPr>
          <a:lstStyle/>
          <a:p>
            <a:pPr>
              <a:buChar char="•"/>
              <a:spcAft>
                <a:spcPts val="6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1. Initialize outputs to a defined safe state.</a:t>
            </a:r>
          </a:p>
          <a:p>
            <a:pPr>
              <a:buChar char="•"/>
              <a:spcAft>
                <a:spcPts val="6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2. Warm up and validate sensor readings.</a:t>
            </a:r>
          </a:p>
          <a:p>
            <a:pPr>
              <a:buChar char="•"/>
              <a:spcAft>
                <a:spcPts val="6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3. Filter readings and evaluate leak threshold with persistence/hysteresis.</a:t>
            </a:r>
          </a:p>
          <a:p>
            <a:pPr>
              <a:buChar char="•"/>
              <a:spcAft>
                <a:spcPts val="6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4. Trigger local buzzer/indicator immediately when the leak condition is met.</a:t>
            </a:r>
          </a:p>
          <a:p>
            <a:pPr>
              <a:buChar char="•"/>
              <a:spcAft>
                <a:spcPts val="6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5. Record sensor faults and stale/invalid measurements distinctly from normal.</a:t>
            </a:r>
          </a:p>
          <a:p>
            <a:pPr>
              <a:buChar char="•"/>
              <a:spcAft>
                <a:spcPts val="6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6. Upload telemetry when Wi-Fi is available; retry later without blocking the safety loop.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5669280"/>
            <a:ext cx="1874519" cy="29260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2CD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5682996"/>
            <a:ext cx="1764791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2CD39A"/>
                </a:solidFill>
                <a:latin typeface="Aptos"/>
              </a:defRPr>
            </a:pPr>
            <a:r>
              <a:t>OFFLINE-SAFE DESIGN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5669280"/>
            <a:ext cx="2514600" cy="29260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19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5682996"/>
            <a:ext cx="240487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19D3BE"/>
                </a:solidFill>
                <a:latin typeface="Aptos"/>
              </a:defRPr>
            </a:pPr>
            <a:r>
              <a:t>NO CLOUD DEPENDENCY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19D3BE"/>
                </a:solidFill>
                <a:latin typeface="Aptos"/>
              </a:defRPr>
            </a:pPr>
            <a:r>
              <a:t>ONEGAURD  /  SMART LPG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16459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9CAEC3"/>
                </a:solidFill>
                <a:latin typeface="Aptos"/>
              </a:defRPr>
            </a:pPr>
            <a:r>
              <a:t>06 / 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02920"/>
            <a:ext cx="11338560" cy="16459"/>
          </a:xfrm>
          <a:prstGeom prst="rect">
            <a:avLst/>
          </a:prstGeom>
          <a:solidFill>
            <a:srgbClr val="243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2500" b="1" i="0">
                <a:solidFill>
                  <a:srgbClr val="EEF5FC"/>
                </a:solidFill>
                <a:latin typeface="Aptos"/>
              </a:defRPr>
            </a:pPr>
            <a:r>
              <a:t>Application, Database &amp; Calling/SMS Alerts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97280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9CAEC3"/>
                </a:solidFill>
                <a:latin typeface="Aptos"/>
              </a:defRPr>
            </a:pPr>
            <a:r>
              <a:t>End-to-end product plan, including notification integration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74536"/>
            <a:ext cx="11338560" cy="22860"/>
          </a:xfrm>
          <a:prstGeom prst="rect">
            <a:avLst/>
          </a:prstGeom>
          <a:solidFill>
            <a:srgbClr val="19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572768"/>
            <a:ext cx="5532120" cy="4526280"/>
          </a:xfrm>
          <a:prstGeom prst="roundRect">
            <a:avLst/>
          </a:prstGeom>
          <a:solidFill>
            <a:srgbClr val="0F1B2E"/>
          </a:solidFill>
          <a:ln w="12700">
            <a:solidFill>
              <a:srgbClr val="24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10512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19D3BE"/>
                </a:solidFill>
                <a:latin typeface="Aptos"/>
              </a:defRPr>
            </a:pPr>
            <a:r>
              <a:t>WEB / MOBILE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04288"/>
            <a:ext cx="4983480" cy="3474720"/>
          </a:xfrm>
          <a:prstGeom prst="rect">
            <a:avLst/>
          </a:prstGeom>
          <a:noFill/>
        </p:spPr>
        <p:txBody>
          <a:bodyPr wrap="square" rIns="45720" tIns="36576" bIns="18288">
            <a:spAutoFit/>
          </a:bodyPr>
          <a:lstStyle/>
          <a:p>
            <a:pPr>
              <a:buChar char="•"/>
              <a:spcAft>
                <a:spcPts val="6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Pages: Dashboard, Devices, Event Log, Settings and Account.</a:t>
            </a:r>
          </a:p>
          <a:p>
            <a:pPr>
              <a:buChar char="•"/>
              <a:spcAft>
                <a:spcPts val="6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Google + email/password login through Firebase Authentication.</a:t>
            </a:r>
          </a:p>
          <a:p>
            <a:pPr>
              <a:buChar char="•"/>
              <a:spcAft>
                <a:spcPts val="6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Per-user records keyed by authenticated UID; rules deny cross-user access.</a:t>
            </a:r>
          </a:p>
          <a:p>
            <a:pPr>
              <a:buChar char="•"/>
              <a:spcAft>
                <a:spcPts val="6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Realtime Database: latest telemetry and online state.</a:t>
            </a:r>
          </a:p>
          <a:p>
            <a:pPr>
              <a:buChar char="•"/>
              <a:spcAft>
                <a:spcPts val="6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Firestore: device metadata, history/calibration and alert delivery records.</a:t>
            </a:r>
          </a:p>
          <a:p>
            <a:pPr>
              <a:buChar char="•"/>
              <a:spcAft>
                <a:spcPts val="6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Demo mode for safe UI testing; live mode only after Firebase/device setup.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572768"/>
            <a:ext cx="5440680" cy="4526280"/>
          </a:xfrm>
          <a:prstGeom prst="roundRect">
            <a:avLst/>
          </a:prstGeom>
          <a:solidFill>
            <a:srgbClr val="0F1B2E"/>
          </a:solidFill>
          <a:ln w="12700">
            <a:solidFill>
              <a:srgbClr val="24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81051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FFAA37"/>
                </a:solidFill>
                <a:latin typeface="Aptos"/>
              </a:defRPr>
            </a:pPr>
            <a:r>
              <a:t>REMOTE ALERT 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331720"/>
            <a:ext cx="1874519" cy="621792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F54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2" y="2377439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100" b="1" i="0">
                <a:solidFill>
                  <a:srgbClr val="F54C53"/>
                </a:solidFill>
                <a:latin typeface="Aptos"/>
              </a:defRPr>
            </a:pPr>
            <a:r>
              <a:t>Leak 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368296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EEF5FC"/>
                </a:solidFill>
                <a:latin typeface="Aptos"/>
              </a:defRPr>
            </a:pPr>
            <a:r>
              <a:t>ESP32 detects locally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136391"/>
            <a:ext cx="1874519" cy="621792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4F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3182111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100" b="1" i="0">
                <a:solidFill>
                  <a:srgbClr val="4FA4FF"/>
                </a:solidFill>
                <a:latin typeface="Aptos"/>
              </a:defRPr>
            </a:pPr>
            <a:r>
              <a:t>Secure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3172968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EEF5FC"/>
                </a:solidFill>
                <a:latin typeface="Aptos"/>
              </a:defRPr>
            </a:pPr>
            <a:r>
              <a:t>Validate device + owner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3941063"/>
            <a:ext cx="1874519" cy="621792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19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2" y="3986783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100" b="1" i="0">
                <a:solidFill>
                  <a:srgbClr val="19D3BE"/>
                </a:solidFill>
                <a:latin typeface="Aptos"/>
              </a:defRPr>
            </a:pPr>
            <a:r>
              <a:t>Alert 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977639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EEF5FC"/>
                </a:solidFill>
                <a:latin typeface="Aptos"/>
              </a:defRPr>
            </a:pPr>
            <a:r>
              <a:t>Deduplicate + cooldown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745736"/>
            <a:ext cx="1874519" cy="621792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2CD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2" y="4791455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100" b="1" i="0">
                <a:solidFill>
                  <a:srgbClr val="2CD39A"/>
                </a:solidFill>
                <a:latin typeface="Aptos"/>
              </a:defRPr>
            </a:pPr>
            <a:r>
              <a:t>Twilio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4782312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EEF5FC"/>
                </a:solidFill>
                <a:latin typeface="Aptos"/>
              </a:defRPr>
            </a:pPr>
            <a:r>
              <a:t>Voice call / SMS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5596128"/>
            <a:ext cx="4800600" cy="384048"/>
          </a:xfrm>
          <a:prstGeom prst="rect">
            <a:avLst/>
          </a:prstGeom>
          <a:noFill/>
        </p:spPr>
        <p:txBody>
          <a:bodyPr wrap="square" rIns="45720" tIns="36576" bIns="18288">
            <a:spAutoFit/>
          </a:bodyPr>
          <a:lstStyle/>
          <a:p>
            <a:pPr>
              <a:buChar char="•"/>
              <a:spcAft>
                <a:spcPts val="100"/>
              </a:spcAft>
              <a:defRPr sz="1000">
                <a:solidFill>
                  <a:srgbClr val="9CAEC3"/>
                </a:solidFill>
                <a:latin typeface="Aptos"/>
              </a:defRPr>
            </a:pPr>
            <a:r>
              <a:t>Twilio credentials stay on server; calls/SMS can cost money and require verified destination setup.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19D3BE"/>
                </a:solidFill>
                <a:latin typeface="Aptos"/>
              </a:defRPr>
            </a:pPr>
            <a:r>
              <a:t>ONEGAURD  /  SMART LPG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16459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9CAEC3"/>
                </a:solidFill>
                <a:latin typeface="Aptos"/>
              </a:defRPr>
            </a:pPr>
            <a:r>
              <a:t>07 / 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02920"/>
            <a:ext cx="11338560" cy="16459"/>
          </a:xfrm>
          <a:prstGeom prst="rect">
            <a:avLst/>
          </a:prstGeom>
          <a:solidFill>
            <a:srgbClr val="243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2500" b="1" i="0">
                <a:solidFill>
                  <a:srgbClr val="EEF5FC"/>
                </a:solidFill>
                <a:latin typeface="Aptos"/>
              </a:defRPr>
            </a:pPr>
            <a:r>
              <a:t>Gas-Mass Calculations &amp; Validation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97280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9CAEC3"/>
                </a:solidFill>
                <a:latin typeface="Aptos"/>
              </a:defRPr>
            </a:pPr>
            <a:r>
              <a:t>Show engineering evidence, not invented performance claims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74536"/>
            <a:ext cx="11338560" cy="22860"/>
          </a:xfrm>
          <a:prstGeom prst="rect">
            <a:avLst/>
          </a:prstGeom>
          <a:solidFill>
            <a:srgbClr val="19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572768"/>
            <a:ext cx="5440680" cy="4526280"/>
          </a:xfrm>
          <a:prstGeom prst="roundRect">
            <a:avLst/>
          </a:prstGeom>
          <a:solidFill>
            <a:srgbClr val="0F1B2E"/>
          </a:solidFill>
          <a:ln w="12700">
            <a:solidFill>
              <a:srgbClr val="24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1051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19D3BE"/>
                </a:solidFill>
                <a:latin typeface="Aptos"/>
              </a:defRPr>
            </a:pPr>
            <a:r>
              <a:t>WEIGHT AND CAPACITY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4846320" cy="3429000"/>
          </a:xfrm>
          <a:prstGeom prst="rect">
            <a:avLst/>
          </a:prstGeom>
          <a:noFill/>
        </p:spPr>
        <p:txBody>
          <a:bodyPr wrap="square" rIns="45720" tIns="36576" bIns="18288">
            <a:spAutoFit/>
          </a:bodyPr>
          <a:lstStyle/>
          <a:p>
            <a:pPr>
              <a:buChar char="•"/>
              <a:spcAft>
                <a:spcPts val="7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Real cylinder: net LPG = gross measured mass − cylinder tare mass.</a:t>
            </a:r>
          </a:p>
          <a:p>
            <a:pPr>
              <a:buChar char="•"/>
              <a:spcAft>
                <a:spcPts val="7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Remaining % = net LPG ÷ configured full net capacity × 100.</a:t>
            </a:r>
          </a:p>
          <a:p>
            <a:pPr>
              <a:buChar char="•"/>
              <a:spcAft>
                <a:spcPts val="7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Dashboard example: 23.55 − 15.10 = 8.45 kg; shown 8.46 kg needs reconciliation.</a:t>
            </a:r>
          </a:p>
          <a:p>
            <a:pPr>
              <a:buChar char="•"/>
              <a:spcAft>
                <a:spcPts val="7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8.46 ÷ 14.2 ≈ 59.6%, consistent with a rounded 60%.</a:t>
            </a:r>
          </a:p>
          <a:p>
            <a:pPr>
              <a:buChar char="•"/>
              <a:spcAft>
                <a:spcPts val="7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MQ-6 ADC is a raw reading, not ppm; threshold must be calibrated on the actual module.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572768"/>
            <a:ext cx="5532120" cy="4526280"/>
          </a:xfrm>
          <a:prstGeom prst="roundRect">
            <a:avLst/>
          </a:prstGeom>
          <a:solidFill>
            <a:srgbClr val="0F1B2E"/>
          </a:solidFill>
          <a:ln w="12700">
            <a:solidFill>
              <a:srgbClr val="24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10512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FFAA37"/>
                </a:solidFill>
                <a:latin typeface="Aptos"/>
              </a:defRPr>
            </a:pPr>
            <a:r>
              <a:t>TESTS BEFORE CLAIMING SUCCESS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86000"/>
            <a:ext cx="4937760" cy="3429000"/>
          </a:xfrm>
          <a:prstGeom prst="rect">
            <a:avLst/>
          </a:prstGeom>
          <a:noFill/>
        </p:spPr>
        <p:txBody>
          <a:bodyPr wrap="square" rIns="45720" tIns="36576" bIns="18288">
            <a:spAutoFit/>
          </a:bodyPr>
          <a:lstStyle/>
          <a:p>
            <a:pPr>
              <a:buChar char="•"/>
              <a:spcAft>
                <a:spcPts val="7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Load-cell calibration at multiple known masses and platform positions.</a:t>
            </a:r>
          </a:p>
          <a:p>
            <a:pPr>
              <a:buChar char="•"/>
              <a:spcAft>
                <a:spcPts val="7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Repeatability, zero drift and measurement error.</a:t>
            </a:r>
          </a:p>
          <a:p>
            <a:pPr>
              <a:buChar char="•"/>
              <a:spcAft>
                <a:spcPts val="7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Safe, controlled MQ-6 sensor characterization; no uncontrolled LPG release.</a:t>
            </a:r>
          </a:p>
          <a:p>
            <a:pPr>
              <a:buChar char="•"/>
              <a:spcAft>
                <a:spcPts val="7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Local alarm test with Wi-Fi/cloud disconnected.</a:t>
            </a:r>
          </a:p>
          <a:p>
            <a:pPr>
              <a:buChar char="•"/>
              <a:spcAft>
                <a:spcPts val="7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API authentication, user-data isolation, stale telemetry and reconnection.</a:t>
            </a:r>
          </a:p>
          <a:p>
            <a:pPr>
              <a:buChar char="•"/>
              <a:spcAft>
                <a:spcPts val="7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Twilio delivery/error logs, cooldown and destination verification.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19D3BE"/>
                </a:solidFill>
                <a:latin typeface="Aptos"/>
              </a:defRPr>
            </a:pPr>
            <a:r>
              <a:t>ONEGAURD  /  SMART LPG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164592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9CAEC3"/>
                </a:solidFill>
                <a:latin typeface="Aptos"/>
              </a:defRPr>
            </a:pPr>
            <a:r>
              <a:t>08 / 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02920"/>
            <a:ext cx="11338560" cy="16459"/>
          </a:xfrm>
          <a:prstGeom prst="rect">
            <a:avLst/>
          </a:prstGeom>
          <a:solidFill>
            <a:srgbClr val="243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2500" b="1" i="0">
                <a:solidFill>
                  <a:srgbClr val="EEF5FC"/>
                </a:solidFill>
                <a:latin typeface="Aptos"/>
              </a:defRPr>
            </a:pPr>
            <a:r>
              <a:t>Build Roadmap, Limitations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97280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9CAEC3"/>
                </a:solidFill>
                <a:latin typeface="Aptos"/>
              </a:defRPr>
            </a:pPr>
            <a:r>
              <a:t>From working prototype to validated, secure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74536"/>
            <a:ext cx="11338560" cy="22860"/>
          </a:xfrm>
          <a:prstGeom prst="rect">
            <a:avLst/>
          </a:prstGeom>
          <a:solidFill>
            <a:srgbClr val="19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572768"/>
            <a:ext cx="5486400" cy="4526280"/>
          </a:xfrm>
          <a:prstGeom prst="roundRect">
            <a:avLst/>
          </a:prstGeom>
          <a:solidFill>
            <a:srgbClr val="0F1B2E"/>
          </a:solidFill>
          <a:ln w="12700">
            <a:solidFill>
              <a:srgbClr val="24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1051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19D3BE"/>
                </a:solidFill>
                <a:latin typeface="Aptos"/>
              </a:defRPr>
            </a:pPr>
            <a:r>
              <a:t>BUILD IN THIS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4892040" cy="3474720"/>
          </a:xfrm>
          <a:prstGeom prst="rect">
            <a:avLst/>
          </a:prstGeom>
          <a:noFill/>
        </p:spPr>
        <p:txBody>
          <a:bodyPr wrap="square" rIns="45720" tIns="36576" bIns="18288">
            <a:spAutoFit/>
          </a:bodyPr>
          <a:lstStyle/>
          <a:p>
            <a:pPr>
              <a:buChar char="•"/>
              <a:spcAft>
                <a:spcPts val="7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1. Finish mechanical mounting and sensor wiring.</a:t>
            </a:r>
          </a:p>
          <a:p>
            <a:pPr>
              <a:buChar char="•"/>
              <a:spcAft>
                <a:spcPts val="7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2. Calibrate load cells and establish a validated gas-sensor threshold.</a:t>
            </a:r>
          </a:p>
          <a:p>
            <a:pPr>
              <a:buChar char="•"/>
              <a:spcAft>
                <a:spcPts val="7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3. Verify ESP32 local safety behavior and fault handling.</a:t>
            </a:r>
          </a:p>
          <a:p>
            <a:pPr>
              <a:buChar char="•"/>
              <a:spcAft>
                <a:spcPts val="7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4. Secure Firebase auth, database rules and device API.</a:t>
            </a:r>
          </a:p>
          <a:p>
            <a:pPr>
              <a:buChar char="•"/>
              <a:spcAft>
                <a:spcPts val="7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5. Connect dashboard, event history and notifications.</a:t>
            </a:r>
          </a:p>
          <a:p>
            <a:pPr>
              <a:buChar char="•"/>
              <a:spcAft>
                <a:spcPts val="7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6. Run end-to-end tests; document measured results and limitations.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572768"/>
            <a:ext cx="5468112" cy="4526280"/>
          </a:xfrm>
          <a:prstGeom prst="roundRect">
            <a:avLst/>
          </a:prstGeom>
          <a:solidFill>
            <a:srgbClr val="0F1B2E"/>
          </a:solidFill>
          <a:ln w="12700">
            <a:solidFill>
              <a:srgbClr val="24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81051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19D3BE"/>
                </a:solidFill>
                <a:latin typeface="Aptos"/>
              </a:defRPr>
            </a:pPr>
            <a:r>
              <a:t>CONTRIBUTION &amp; FUTURE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286000"/>
            <a:ext cx="4800600" cy="2880360"/>
          </a:xfrm>
          <a:prstGeom prst="rect">
            <a:avLst/>
          </a:prstGeom>
          <a:noFill/>
        </p:spPr>
        <p:txBody>
          <a:bodyPr wrap="square" rIns="45720" tIns="36576" bIns="18288">
            <a:spAutoFit/>
          </a:bodyPr>
          <a:lstStyle/>
          <a:p>
            <a:pPr>
              <a:buChar char="•"/>
              <a:spcAft>
                <a:spcPts val="8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OneGaurd unifies leak sensing, weight-based gas estimation and cloud monitoring.</a:t>
            </a:r>
          </a:p>
          <a:p>
            <a:pPr>
              <a:buChar char="•"/>
              <a:spcAft>
                <a:spcPts val="8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Future: battery backup, GSM fallback, smart-home integration and validated refill prediction.</a:t>
            </a:r>
          </a:p>
          <a:p>
            <a:pPr>
              <a:buChar char="•"/>
              <a:spcAft>
                <a:spcPts val="8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A simple consumption estimator comes before ML; AI requires real, evaluated history.</a:t>
            </a:r>
          </a:p>
          <a:p>
            <a:pPr>
              <a:buChar char="•"/>
              <a:spcAft>
                <a:spcPts val="800"/>
              </a:spcAft>
              <a:defRPr sz="1300">
                <a:solidFill>
                  <a:srgbClr val="EEF5FC"/>
                </a:solidFill>
                <a:latin typeface="Aptos"/>
              </a:defRPr>
            </a:pPr>
            <a:r>
              <a:t>This prototype is not certified LPG safety equipment; use approved safety devices.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5532120"/>
            <a:ext cx="1828800" cy="29260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2CD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2824" y="5545836"/>
            <a:ext cx="171907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2CD39A"/>
                </a:solidFill>
                <a:latin typeface="Aptos"/>
              </a:defRPr>
            </a:pPr>
            <a:r>
              <a:t>LOCAL SAFETY FIRST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5532120"/>
            <a:ext cx="2560320" cy="292608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FF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58784" y="5545836"/>
            <a:ext cx="2450591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FFAA37"/>
                </a:solidFill>
                <a:latin typeface="Aptos"/>
              </a:defRPr>
            </a:pPr>
            <a:r>
              <a:t>VALIDATE BEFORE 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943600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EEF5FC"/>
                </a:solidFill>
                <a:latin typeface="Aptos"/>
              </a:defRPr>
            </a:pPr>
            <a:r>
              <a:t>Thank you  •  Questions &amp; Discussion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