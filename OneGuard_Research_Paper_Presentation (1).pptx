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late_cover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43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1371600"/>
            <a:ext cx="11183112" cy="470916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1028700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2500" b="1" i="0">
                <a:solidFill>
                  <a:srgbClr val="232D34"/>
                </a:solidFill>
                <a:latin typeface="Aptos"/>
              </a:defRPr>
            </a:pPr>
            <a:r>
              <a:t>DESIGN AND DEVELOPMENT OF A SMART LPG SAFETY RING</a:t>
            </a:r>
          </a:p>
          <a:p>
            <a:pPr algn="ctr">
              <a:spcAft>
                <a:spcPts val="700"/>
              </a:spcAft>
              <a:defRPr sz="2500" b="1" i="0">
                <a:solidFill>
                  <a:srgbClr val="232D34"/>
                </a:solidFill>
                <a:latin typeface="Aptos"/>
              </a:defRPr>
            </a:pPr>
            <a:r>
              <a:t>FOR GAS LEVEL MONITORING, LEAK DETECTION AND AI-BASED REFILL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71800"/>
            <a:ext cx="850392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B0232B"/>
                </a:solidFill>
                <a:latin typeface="Aptos"/>
              </a:defRPr>
            </a:pPr>
            <a:r>
              <a:t>Final Year Capstone Project  |  Research-Paper-Based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703320"/>
            <a:ext cx="45720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32D34"/>
                </a:solidFill>
                <a:latin typeface="Aptos"/>
              </a:defRPr>
            </a:pPr>
            <a:r>
              <a:t>Presented by: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32D34"/>
                </a:solidFill>
                <a:latin typeface="Aptos"/>
              </a:defRPr>
            </a:pPr>
            <a:r>
              <a:t>Piyush Rohidas Sonawane (453)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32D34"/>
                </a:solidFill>
                <a:latin typeface="Aptos"/>
              </a:defRPr>
            </a:pPr>
            <a:r>
              <a:t>Gaurav Dattatray Shinde (449)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32D34"/>
                </a:solidFill>
                <a:latin typeface="Aptos"/>
              </a:defRPr>
            </a:pPr>
            <a:r>
              <a:t>Sakshi Dnyaneshwar Shinde (450)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32D34"/>
                </a:solidFill>
                <a:latin typeface="Aptos"/>
              </a:defRPr>
            </a:pPr>
            <a:r>
              <a:t>Shailaja Ashok Sargam (443)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3886200"/>
            <a:ext cx="36576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 i="0">
                <a:solidFill>
                  <a:srgbClr val="232D34"/>
                </a:solidFill>
                <a:latin typeface="Aptos"/>
              </a:defRPr>
            </a:pPr>
            <a:r>
              <a:t>Project Guide:</a:t>
            </a:r>
          </a:p>
          <a:p>
            <a:pPr algn="ctr">
              <a:spcAft>
                <a:spcPts val="700"/>
              </a:spcAft>
              <a:defRPr sz="1700" b="1" i="0">
                <a:solidFill>
                  <a:srgbClr val="232D34"/>
                </a:solidFill>
                <a:latin typeface="Aptos"/>
              </a:defRPr>
            </a:pPr>
            <a:r>
              <a:t>Prof. S. P. Tapkire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506069"/>
                </a:solidFill>
                <a:latin typeface="Aptos"/>
              </a:defRPr>
            </a:pPr>
            <a:r>
              <a:t>Department of Electronics &amp; Telecommunication Engineering  •  N. B. Navale Sinhgad College of Engineering, Solapur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287000" cy="397763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Introduction and problem statement</a:t>
            </a:r>
          </a:p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Objectives and literature survey</a:t>
            </a:r>
          </a:p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System architecture and ring mechanical design</a:t>
            </a:r>
          </a:p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Hardware components and sensing principles</a:t>
            </a:r>
          </a:p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Firmware workflow and cloud/mobile application</a:t>
            </a:r>
          </a:p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Weight calibration, remaining-gas estimation and refill prediction</a:t>
            </a:r>
          </a:p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Experimental methodology and evidence available</a:t>
            </a:r>
          </a:p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Safety, limitations, future scope and conclusion</a:t>
            </a:r>
          </a:p>
          <a:p>
            <a:pPr>
              <a:buChar char="•"/>
              <a:spcAft>
                <a:spcPts val="900"/>
              </a:spcAft>
              <a:defRPr sz="2000">
                <a:solidFill>
                  <a:srgbClr val="232D34"/>
                </a:solidFill>
                <a:latin typeface="Aptos"/>
              </a:defRPr>
            </a:pPr>
            <a:r>
              <a:t>References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571500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5349240" cy="40233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LPG is widely used in Indian homes, restaurants, hostels and community kitchens.</a:t>
            </a:r>
          </a:p>
          <a:p>
            <a:pPr>
              <a:buChar char="•"/>
              <a:spcAft>
                <a:spcPts val="8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Two practical issues motivate this project: an unnoticed leak and uncertainty about the remaining gas.</a:t>
            </a:r>
          </a:p>
          <a:p>
            <a:pPr>
              <a:buChar char="•"/>
              <a:spcAft>
                <a:spcPts val="8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OneGuard combines a cylinder-support ring, gas sensing, weight measurement and remote monitoring.</a:t>
            </a:r>
          </a:p>
          <a:p>
            <a:pPr>
              <a:buChar char="•"/>
              <a:spcAft>
                <a:spcPts val="8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The proposed system is a retrofit design intended to avoid modifying the cylinder, regulator or pipeline.</a:t>
            </a:r>
          </a:p>
          <a:p>
            <a:pPr>
              <a:buChar char="•"/>
              <a:spcAft>
                <a:spcPts val="8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It provides an additional layer of warning; it does not replace approved LPG safety practices.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per_fig6_prototype_pho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569" y="1993392"/>
            <a:ext cx="4181980" cy="3794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60" y="5806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0" i="1">
                <a:solidFill>
                  <a:srgbClr val="506069"/>
                </a:solidFill>
                <a:latin typeface="Aptos"/>
              </a:defRPr>
            </a:pPr>
            <a:r>
              <a:t>Prototype images reproduced from the supplied research paper, Fig. 6.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287000" cy="397763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9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t>Problem: conventional alarms often report leakage only; they may not report remaining fuel quantity.</a:t>
            </a:r>
          </a:p>
          <a:p>
            <a:pPr>
              <a:buChar char="•"/>
              <a:spcAft>
                <a:spcPts val="9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t>Measure cylinder mass using load cells and an HX711 amplifier, then calculate net LPG after tare correction.</a:t>
            </a:r>
          </a:p>
          <a:p>
            <a:pPr>
              <a:buChar char="•"/>
              <a:spcAft>
                <a:spcPts val="9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t>Detect suspected leakage with an MQ-series sensor and activate a local buzzer/LED.</a:t>
            </a:r>
          </a:p>
          <a:p>
            <a:pPr>
              <a:buChar char="•"/>
              <a:spcAft>
                <a:spcPts val="9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t>Send current readings and alert events to a mobile dashboard through Wi-Fi/cloud services.</a:t>
            </a:r>
          </a:p>
          <a:p>
            <a:pPr>
              <a:buChar char="•"/>
              <a:spcAft>
                <a:spcPts val="9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t>Use historical consumption to estimate remaining days and provide early refill reminders.</a:t>
            </a:r>
          </a:p>
          <a:p>
            <a:pPr>
              <a:buChar char="•"/>
              <a:spcAft>
                <a:spcPts val="900"/>
              </a:spcAft>
              <a:defRPr sz="1800">
                <a:solidFill>
                  <a:srgbClr val="232D34"/>
                </a:solidFill>
                <a:latin typeface="Aptos"/>
              </a:defRPr>
            </a:pPr>
            <a:r>
              <a:t>Explore backup power and alternate communication for resilience.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Literature Survey &amp; Research Gap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287000" cy="397763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Gas alarms using semiconductor sensors and buzzers provide low-cost local warnings, but often omit fuel-level tracking.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IoT-based systems add cloud dashboards and remote notifications; many remain focused mainly on leakage.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Load-cell + HX711 approaches estimate cylinder contents from total mass minus cylinder tare.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The research paper identifies an integration gap: leak detection, weight-based level estimation and environmental sensing are rarely combined in one low-cost retrofit unit.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Literature citations in the supplied documents should be verified against the original publisher records before final academic submission.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System Block Diagram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571500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5349240" cy="40233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Load cells + HX711: measure cylinder/platform mass.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MQ-series gas sensor: provides a raw signal used by leak-detection logic.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DHT22 (as proposed in the paper): records ambient temperature and humidity.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ESP-class controller: filters sensor readings, checks leak state and drives the local alarm.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Wi-Fi/cloud/mobile app: carries readings, history and remote notifications.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Important: the research paper describes NodeMCU ESP8266; the current project hardware discussions use ESP32. Final diagrams and firmware must match the board actually installed.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per_fig1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19122"/>
            <a:ext cx="5029200" cy="3543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60" y="5806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0" i="1">
                <a:solidFill>
                  <a:srgbClr val="506069"/>
                </a:solidFill>
                <a:latin typeface="Aptos"/>
              </a:defRPr>
            </a:pPr>
            <a:r>
              <a:t>Source: supplied research paper, Fig. 1 (block diagram).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Ring Mechanical Design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571500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5349240" cy="40233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The cylinder rests on a ring-shaped platform; the design is intended to preserve the normal cylinder connection.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Load cells are distributed beneath the platform to share load and reduce sensitivity to cylinder position.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The control enclosure should be mounted securely away from the valve/regulator area.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Non-slip support and mechanical alignment matter because off-centre loading can change readings.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Final dimensions, material, load-cell count and rated capacity must be documented from the actual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per_fig2_ring_mechanical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02612"/>
            <a:ext cx="5029200" cy="3576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60" y="5806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0" i="1">
                <a:solidFill>
                  <a:srgbClr val="506069"/>
                </a:solidFill>
                <a:latin typeface="Aptos"/>
              </a:defRPr>
            </a:pPr>
            <a:r>
              <a:t>Source: supplied research paper, Fig. 2 (mechanical layout).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Hardware Components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287000" cy="397763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ESP32 / NodeMCU: embedded processing and Wi-Fi (confirm the final board).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MQ-6 gas sensor module: LPG-oriented combustible-gas sensing; needs warm-up and calibration.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Load cells + HX711: weight measurement through a strain-gauge bridge and 24-bit ADC.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DHT22: temperature and humidity sensing, proposed for environmental logging/compensation.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Buzzer + status LEDs: immediate local warning and device-state indication.</a:t>
            </a:r>
          </a:p>
          <a:p>
            <a:pPr>
              <a:buChar char="•"/>
              <a:spcAft>
                <a:spcPts val="9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Power supply; proposed future additions include battery backup, optional OLED and GSM fallback.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Sensing Principles &amp; Key Calculations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287000" cy="397763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Load-cell calibration: W = (N − N₀) / k, where N is the measured count, N₀ is the zero offset and k is the calibrated scale factor.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Net gas mass: Wgas = Wtotal − Wtare. The platform must be tared separately, and cylinder tare must be subtracted for a real cylinder.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Gas remaining (%): (Wgas / configured full net content) × 100, clamped to 0–100%.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Remaining days: estimated gas mass divided by a moving-average daily consumption rate; show no estimate until enough history exists.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MQ sensing: raw ADC/voltage is not automatically ppm. A valid ppm estimate needs the exact sensor, load resistance, clean-air baseline and datasheet calibration.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Firmware Workflow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571500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5349240" cy="40233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1. Initialize controller and sensors; establish safe output state.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2. Warm up the gas sensor and validate sensor readings.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3. Read and filter gas and load-cell data.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4. Evaluate leak/fault logic first and activate local alarm without waiting for Wi-Fi.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5. Calculate gas quantity and update consumption history.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6. Upload timestamped telemetry when connected; queue or retry after network loss where supported.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7. App marks data stale/offline when heartbeats stop; it must never treat old data as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per_fig3_firmwar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96150"/>
            <a:ext cx="5029200" cy="33892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60" y="5806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0" i="1">
                <a:solidFill>
                  <a:srgbClr val="506069"/>
                </a:solidFill>
                <a:latin typeface="Aptos"/>
              </a:defRPr>
            </a:pPr>
            <a:r>
              <a:t>Source: supplied research paper, Fig. 3 (firmware flowchart).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Cloud Architecture &amp; Mobile Application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571500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5349240" cy="40233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Device → authenticated API/cloud → live state + event history → authenticated user dashboard.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Firebase Authentication can isolate each user's devices and records by UID.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Realtime Database suits latest readings; Firestore can hold device metadata, durable events and alert-delivery records.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Dashboard: safety state, last-seen time, gas raw reading, gas mass/percentage, history and refill estimate.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Alerts: local buzzer/LED first; push/SMS/voice are optional remote channels and depend on connectivity/provider setup.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Security: device credentials map to an owner server-side; never accept an arbitrary owner UID from device payloads.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per_fig4_layere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14372"/>
            <a:ext cx="5029200" cy="3352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60" y="5806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0" i="1">
                <a:solidFill>
                  <a:srgbClr val="506069"/>
                </a:solidFill>
                <a:latin typeface="Aptos"/>
              </a:defRPr>
            </a:pPr>
            <a:r>
              <a:t>Source: supplied research paper, Fig. 4 (layered software architecture).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Experimental Methodology &amp; Results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53212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5029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000" b="1" i="0">
                <a:solidFill>
                  <a:srgbClr val="B0232B"/>
                </a:solidFill>
                <a:latin typeface="Aptos"/>
              </a:defRPr>
            </a:pPr>
            <a:r>
              <a:t>Planned / required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4983480" cy="338328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5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Weight calibration using known reference masses at several positions.</a:t>
            </a:r>
          </a:p>
          <a:p>
            <a:pPr>
              <a:buChar char="•"/>
              <a:spcAft>
                <a:spcPts val="5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Record absolute error, percentage error and repeatability.</a:t>
            </a:r>
          </a:p>
          <a:p>
            <a:pPr>
              <a:buChar char="•"/>
              <a:spcAft>
                <a:spcPts val="5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Measure local alarm and app notification latency in a controlled, reviewed test.</a:t>
            </a:r>
          </a:p>
          <a:p>
            <a:pPr>
              <a:buChar char="•"/>
              <a:spcAft>
                <a:spcPts val="5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Test hotspot/router loss, reconnection and stale-data detection.</a:t>
            </a:r>
          </a:p>
          <a:p>
            <a:pPr>
              <a:buChar char="•"/>
              <a:spcAft>
                <a:spcPts val="5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Check false alarms, sensor warm-up/drift and power consumption.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4406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846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900" b="1" i="0">
                <a:solidFill>
                  <a:srgbClr val="B0232B"/>
                </a:solidFill>
                <a:latin typeface="Aptos"/>
              </a:defRPr>
            </a:pPr>
            <a:r>
              <a:t>Evidence status in supplied paper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800600" cy="320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232D34"/>
                </a:solidFill>
                <a:latin typeface="Aptos"/>
              </a:defRPr>
            </a:pPr>
            <a:r>
              <a:t>The research paper contains placeholders for key measurements, including leak response time, weight error, prototype cost, trials and power draw.</a:t>
            </a:r>
          </a:p>
          <a:p>
            <a:pPr>
              <a:spcAft>
                <a:spcPts val="400"/>
              </a:spcAft>
              <a:defRPr sz="1600" b="0" i="0">
                <a:solidFill>
                  <a:srgbClr val="232D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600" b="0" i="0">
                <a:solidFill>
                  <a:srgbClr val="232D34"/>
                </a:solidFill>
                <a:latin typeface="Aptos"/>
              </a:defRPr>
            </a:pPr>
            <a:r>
              <a:t>No measured values have been filled in the provided document. This presentation therefore does not invent performance results. Complete the test tables from actual experiments before presenting quantitative claims.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09360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1" i="0">
                <a:solidFill>
                  <a:srgbClr val="B0232B"/>
                </a:solidFill>
                <a:latin typeface="Aptos"/>
              </a:defRPr>
            </a:pPr>
            <a:r>
              <a:t>Safety: do not release LPG for an uncontrolled test; use safe, controlled methods and qualified supervision.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Safety, Limitations &amp; Future Scope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287000" cy="397763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Safety: local detection and alarm must work when Wi-Fi/cloud is unavailable; sensor fault must never be shown as safe.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MQ metal-oxide sensors can respond to other vapours and drift with time, humidity and temperature.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Weight accuracy depends on calibration, stable mechanics, load distribution and correct cylinder tare.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Remote alerting depends on network and provider availability; SMS/voice may incur charges.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Future work: validated automatic shut-off hardware, better LPG selectivity, battery backup, GSM fallback, custom PCB/enclosure and field validation/certification.</a:t>
            </a:r>
          </a:p>
          <a:p>
            <a:pPr>
              <a:buChar char="•"/>
              <a:spcAft>
                <a:spcPts val="9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Prototype status: additional protection only—not a certified gas alarm or replacement for approved LPG safety procedures.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571500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57400"/>
            <a:ext cx="5349240" cy="40233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OneGuard integrates three useful functions: LPG leak sensing, weight-based remaining-gas estimation and remote monitoring.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The ring form aims to make installation simple without changing the cylinder connection.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The core engineering priorities are reliable calibration, low false-alarm rate, secure data ownership and offline local response.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AI-based refill prediction should be introduced only after enough trustworthy consumption history is collected and evaluated.</a:t>
            </a:r>
          </a:p>
          <a:p>
            <a:pPr>
              <a:buChar char="•"/>
              <a:spcAft>
                <a:spcPts val="800"/>
              </a:spcAft>
              <a:defRPr sz="1600">
                <a:solidFill>
                  <a:srgbClr val="232D34"/>
                </a:solidFill>
                <a:latin typeface="Aptos"/>
              </a:defRPr>
            </a:pPr>
            <a:r>
              <a:t>Next step: complete wiring and calibration records, fill experimental result tables, verify references and conduct end-to-end tests.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394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per_fig6_prototype_pho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569" y="1993392"/>
            <a:ext cx="4181980" cy="3794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60" y="5806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100" b="0" i="1">
                <a:solidFill>
                  <a:srgbClr val="506069"/>
                </a:solidFill>
                <a:latin typeface="Aptos"/>
              </a:defRPr>
            </a:pPr>
            <a:r>
              <a:t>Prototype photographs from the supplied research paper; quantitative validation remains to be completed.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700"/>
              </a:spcAft>
              <a:defRPr sz="2700" b="1" i="0">
                <a:solidFill>
                  <a:srgbClr val="B0232B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Oval 4"/>
          <p:cNvSpPr/>
          <p:nvPr/>
        </p:nvSpPr>
        <p:spPr>
          <a:xfrm>
            <a:off x="5870448" y="1261872"/>
            <a:ext cx="438912" cy="438912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0448" y="1280160"/>
            <a:ext cx="4389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668F9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0835640" cy="443484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287000" cy="3977639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buChar char="•"/>
              <a:spcAft>
                <a:spcPts val="9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[1] MQ-6 Semiconductor Sensor for LPG Data Sheet, Hanwei Electronics Co., Ltd. (as cited in supplied paper).</a:t>
            </a:r>
          </a:p>
          <a:p>
            <a:pPr>
              <a:buChar char="•"/>
              <a:spcAft>
                <a:spcPts val="9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[2] HX711 24-Bit Analog-to-Digital Converter for Weigh Scales Data Sheet, Avia Semiconductor (as cited in supplied paper).</a:t>
            </a:r>
          </a:p>
          <a:p>
            <a:pPr>
              <a:buChar char="•"/>
              <a:spcAft>
                <a:spcPts val="9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[3] DHT22 (AM2302) Digital Temperature and Humidity Sensor Data Sheet, Aosong Electronics (as cited in supplied paper).</a:t>
            </a:r>
          </a:p>
          <a:p>
            <a:pPr>
              <a:buChar char="•"/>
              <a:spcAft>
                <a:spcPts val="9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[4] ESP8266EX Datasheet, Espressif Systems (as cited in supplied paper).</a:t>
            </a:r>
          </a:p>
          <a:p>
            <a:pPr>
              <a:buChar char="•"/>
              <a:spcAft>
                <a:spcPts val="9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[5] N. Manjunathan, S. Muthulingam, D. Jaganathan, “IoT Based Gas Leakage Detection System,” ICSCDS-2023, IEEE Xplore (listed in supplied presentation; verify bibliographic details).</a:t>
            </a:r>
          </a:p>
          <a:p>
            <a:pPr>
              <a:buChar char="•"/>
              <a:spcAft>
                <a:spcPts val="9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[6] Additional literature references in the supplied documents include IoT gas leakage detection, intelligent LPG regulator monitoring, and explainable ML for LPG refill frequency; verify exact publication metadata before submission.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late_page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700"/>
              </a:spcAft>
              <a:defRPr sz="4200" b="1" i="0">
                <a:solidFill>
                  <a:srgbClr val="232D34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300" b="1" i="0">
                <a:solidFill>
                  <a:srgbClr val="B0232B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defRPr sz="1200" b="0" i="0">
                <a:solidFill>
                  <a:srgbClr val="506069"/>
                </a:solidFill>
                <a:latin typeface="Aptos"/>
              </a:defRPr>
            </a:pPr>
            <a:r>
              <a:t>OneGuard — Smart LPG Safety Ring  |  NBNSCOE, Solapur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385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C5B2"/>
                </a:solidFill>
                <a:latin typeface="Aptos"/>
              </a:defRPr>
            </a:pPr>
            <a:r>
              <a:t>ONEGUARD  |  SMART LPG SAFETY 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30352"/>
            <a:ext cx="11338560" cy="16459"/>
          </a:xfrm>
          <a:prstGeom prst="rect">
            <a:avLst/>
          </a:prstGeom>
          <a:solidFill>
            <a:srgbClr val="00C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EEF5FA"/>
                </a:solidFill>
                <a:latin typeface="Aptos"/>
              </a:defRPr>
            </a:pPr>
            <a:r>
              <a:t>Live Dashboard — UI Design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65392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6A8BC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11338560" cy="448056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neguard_dashboar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939" y="1536192"/>
            <a:ext cx="8949640" cy="4069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25312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96A8BC"/>
                </a:solidFill>
                <a:latin typeface="Aptos"/>
              </a:defRPr>
            </a:pPr>
            <a:r>
              <a:t>Dashboard screenshot supplied by the project team. Values shown are UI/demo values, not validated sensor results.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385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C5B2"/>
                </a:solidFill>
                <a:latin typeface="Aptos"/>
              </a:defRPr>
            </a:pPr>
            <a:r>
              <a:t>ONEGUARD  |  SMART LPG SAFETY 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30352"/>
            <a:ext cx="11338560" cy="16459"/>
          </a:xfrm>
          <a:prstGeom prst="rect">
            <a:avLst/>
          </a:prstGeom>
          <a:solidFill>
            <a:srgbClr val="00C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EEF5FA"/>
                </a:solidFill>
                <a:latin typeface="Aptos"/>
              </a:defRPr>
            </a:pPr>
            <a:r>
              <a:t>Dashboard Analysis — Readings, States &amp; Visual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65392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6A8BC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6675120" cy="452628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neguard_dashboard_visual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425032"/>
            <a:ext cx="6263640" cy="233711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96912" y="1325880"/>
            <a:ext cx="4453128" cy="452628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572768"/>
            <a:ext cx="3931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C5B2"/>
                </a:solidFill>
                <a:latin typeface="Aptos"/>
              </a:defRPr>
            </a:pPr>
            <a:r>
              <a:t>Review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11680"/>
            <a:ext cx="38404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C5B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201168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EF5FA"/>
                </a:solidFill>
                <a:latin typeface="Aptos"/>
              </a:defRPr>
            </a:pPr>
            <a:r>
              <a:t>Reading 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2304288"/>
            <a:ext cx="347472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96A8BC"/>
                </a:solidFill>
                <a:latin typeface="Aptos"/>
              </a:defRPr>
            </a:pPr>
            <a:r>
              <a:t>8.46 kg remaining ÷ 14.2 kg capacity ≈ 59.6%, consistent with the displayed 60%.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926080"/>
            <a:ext cx="38404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C5B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92608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EF5FA"/>
                </a:solidFill>
                <a:latin typeface="Aptos"/>
              </a:defRPr>
            </a:pPr>
            <a:r>
              <a:t>Tare arithmetic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3218688"/>
            <a:ext cx="347472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96A8BC"/>
                </a:solidFill>
                <a:latin typeface="Aptos"/>
              </a:defRPr>
            </a:pPr>
            <a:r>
              <a:t>23.55 kg gross − 15.10 kg tare = 8.45 kg. The dashboard also shows 8.46 kg; reconcile rounding/source values.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840480"/>
            <a:ext cx="38404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C5B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84048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EF5FA"/>
                </a:solidFill>
                <a:latin typeface="Aptos"/>
              </a:defRPr>
            </a:pPr>
            <a:r>
              <a:t>Threshold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4133088"/>
            <a:ext cx="347472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96A8BC"/>
                </a:solidFill>
                <a:latin typeface="Aptos"/>
              </a:defRPr>
            </a:pPr>
            <a:r>
              <a:t>178 ADC is below the shown 450 ADC threshold, consistent with the normal state if the threshold logic is defined that 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754880"/>
            <a:ext cx="38404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C5B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475488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EEF5FA"/>
                </a:solidFill>
                <a:latin typeface="Aptos"/>
              </a:defRPr>
            </a:pPr>
            <a:r>
              <a:t>Safety labeling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5047488"/>
            <a:ext cx="347472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96A8BC"/>
                </a:solidFill>
                <a:latin typeface="Aptos"/>
              </a:defRPr>
            </a:pPr>
            <a:r>
              <a:t>ADC is a raw sensor unit, not ppm. Mark readings as demo/simulated until calibrated and live telemetry is verified.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385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C5B2"/>
                </a:solidFill>
                <a:latin typeface="Aptos"/>
              </a:defRPr>
            </a:pPr>
            <a:r>
              <a:t>ONEGUARD  |  SMART LPG SAFETY 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30352"/>
            <a:ext cx="11338560" cy="16459"/>
          </a:xfrm>
          <a:prstGeom prst="rect">
            <a:avLst/>
          </a:prstGeom>
          <a:solidFill>
            <a:srgbClr val="00C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EEF5FA"/>
                </a:solidFill>
                <a:latin typeface="Aptos"/>
              </a:defRPr>
            </a:pPr>
            <a:r>
              <a:t>Presentation Motion &amp; Final Visual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65392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96A8BC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448056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C5B2"/>
                </a:solidFill>
                <a:latin typeface="Aptos"/>
              </a:defRPr>
            </a:pPr>
            <a:r>
              <a:t>Recommended transitions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4754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EEF5FA"/>
                </a:solidFill>
                <a:latin typeface="Aptos"/>
              </a:defRPr>
            </a:pPr>
            <a:r>
              <a:t>• Use a subtle Fade transition between technical slides.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4754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EEF5FA"/>
                </a:solidFill>
                <a:latin typeface="Aptos"/>
              </a:defRPr>
            </a:pPr>
            <a:r>
              <a:t>• Use Morph only for a sequence that intentionally zooms from architecture → hardware →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39312"/>
            <a:ext cx="4754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EEF5FA"/>
                </a:solidFill>
                <a:latin typeface="Aptos"/>
              </a:defRPr>
            </a:pPr>
            <a:r>
              <a:t>• Keep transitions around 0.4–0.6 seconds; avoid flashy effects on safety content.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52544"/>
            <a:ext cx="47548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EEF5FA"/>
                </a:solidFill>
                <a:latin typeface="Aptos"/>
              </a:defRPr>
            </a:pPr>
            <a:r>
              <a:t>• Animate diagrams in reading order only when it improves explanation.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440680" cy="4480560"/>
          </a:xfrm>
          <a:prstGeom prst="roundRect">
            <a:avLst/>
          </a:prstGeom>
          <a:solidFill>
            <a:srgbClr val="111C2F"/>
          </a:solidFill>
          <a:ln w="12700">
            <a:solidFill>
              <a:srgbClr val="233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64208"/>
            <a:ext cx="4800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C5B2"/>
                </a:solidFill>
                <a:latin typeface="Aptos"/>
              </a:defRPr>
            </a:pPr>
            <a:r>
              <a:t>Visual QA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12848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EF5FA"/>
                </a:solidFill>
                <a:latin typeface="Aptos"/>
              </a:defRPr>
            </a:pPr>
            <a:r>
              <a:t>✓  Dashboard screenshot added without stretching.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852928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EF5FA"/>
                </a:solidFill>
                <a:latin typeface="Aptos"/>
              </a:defRPr>
            </a:pPr>
            <a:r>
              <a:t>✓  Raw ADC is not presented as gas concentration in ppm.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493008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EF5FA"/>
                </a:solidFill>
                <a:latin typeface="Aptos"/>
              </a:defRPr>
            </a:pPr>
            <a:r>
              <a:t>✓  Gross − tare arithmetic discrepancy is explicitly flagged.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133088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EF5FA"/>
                </a:solidFill>
                <a:latin typeface="Aptos"/>
              </a:defRPr>
            </a:pPr>
            <a:r>
              <a:t>✓  Experimental performance claims remain unfilled until measured.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773168"/>
            <a:ext cx="46634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EF5FA"/>
                </a:solidFill>
                <a:latin typeface="Aptos"/>
              </a:defRPr>
            </a:pPr>
            <a:r>
              <a:t>✓  Local ESP32 safety response must not depend on cloud connectivity.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