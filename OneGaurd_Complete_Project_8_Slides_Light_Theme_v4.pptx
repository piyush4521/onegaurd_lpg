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502920"/>
            <a:ext cx="109728" cy="5806440"/>
          </a:xfrm>
          <a:prstGeom prst="rect">
            <a:avLst/>
          </a:prstGeom>
          <a:solidFill>
            <a:srgbClr val="14825B"/>
          </a:solidFill>
          <a:ln w="13970">
            <a:solidFill>
              <a:srgbClr val="148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640080"/>
            <a:ext cx="6035040" cy="3200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200" b="1">
                <a:solidFill>
                  <a:srgbClr val="1EDAC3"/>
                </a:solidFill>
                <a:latin typeface="Aptos"/>
              </a:defRPr>
            </a:pPr>
            <a:r>
              <a:rPr>
                <a:solidFill>
                  <a:srgbClr val="1D2B39"/>
                </a:solidFill>
              </a:rPr>
              <a:t>FINAL YEAR ENGINEERING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143000"/>
            <a:ext cx="6217920" cy="12344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3400" b="1">
                <a:solidFill>
                  <a:srgbClr val="EFF6FF"/>
                </a:solidFill>
                <a:latin typeface="Aptos"/>
              </a:defRPr>
            </a:pPr>
            <a:r>
              <a:rPr>
                <a:solidFill>
                  <a:srgbClr val="1D2B39"/>
                </a:solidFill>
              </a:rPr>
              <a:t>SMART LPG</a:t>
            </a:r>
          </a:p>
          <a:p>
            <a:pPr algn="l">
              <a:spcAft>
                <a:spcPts val="400"/>
              </a:spcAft>
              <a:defRPr sz="3400" b="1">
                <a:solidFill>
                  <a:srgbClr val="EFF6FF"/>
                </a:solidFill>
                <a:latin typeface="Aptos"/>
              </a:defRPr>
            </a:pPr>
            <a:r>
              <a:rPr>
                <a:solidFill>
                  <a:srgbClr val="1D2B39"/>
                </a:solidFill>
              </a:rPr>
              <a:t>SAFETY 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06040"/>
            <a:ext cx="5852160" cy="7772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A1B4CA"/>
                </a:solidFill>
                <a:latin typeface="Aptos"/>
              </a:defRPr>
            </a:pPr>
            <a:r>
              <a:rPr>
                <a:solidFill>
                  <a:srgbClr val="1D2B39"/>
                </a:solidFill>
              </a:rPr>
              <a:t>Leak detection • Weight-based gas monitoring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A1B4CA"/>
                </a:solidFill>
                <a:latin typeface="Aptos"/>
              </a:defRPr>
            </a:pPr>
            <a:r>
              <a:rPr>
                <a:solidFill>
                  <a:srgbClr val="1D2B39"/>
                </a:solidFill>
              </a:rPr>
              <a:t>Cloud alerts • Refill prediction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84448"/>
            <a:ext cx="1051560" cy="310896"/>
          </a:xfrm>
          <a:prstGeom prst="roundRect">
            <a:avLst/>
          </a:prstGeom>
          <a:solidFill>
            <a:srgbClr val="EBF3F8"/>
          </a:solidFill>
          <a:ln w="13970">
            <a:solidFill>
              <a:srgbClr val="148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3598164"/>
            <a:ext cx="978407" cy="26517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900" b="1">
                <a:solidFill>
                  <a:srgbClr val="1EDAC3"/>
                </a:solidFill>
                <a:latin typeface="Aptos"/>
              </a:defRPr>
            </a:pPr>
            <a:r>
              <a:rPr>
                <a:solidFill>
                  <a:srgbClr val="1D2B39"/>
                </a:solidFill>
              </a:rPr>
              <a:t>ESP32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84831" y="3584448"/>
            <a:ext cx="1234440" cy="310896"/>
          </a:xfrm>
          <a:prstGeom prst="roundRect">
            <a:avLst/>
          </a:prstGeom>
          <a:solidFill>
            <a:srgbClr val="EBF3F8"/>
          </a:solidFill>
          <a:ln w="13970">
            <a:solidFill>
              <a:srgbClr val="148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21408" y="3598164"/>
            <a:ext cx="1161288" cy="26517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900" b="1">
                <a:solidFill>
                  <a:srgbClr val="1EDAC3"/>
                </a:solidFill>
                <a:latin typeface="Aptos"/>
              </a:defRPr>
            </a:pPr>
            <a:r>
              <a:rPr>
                <a:solidFill>
                  <a:srgbClr val="1D2B39"/>
                </a:solidFill>
              </a:rPr>
              <a:t>MQ-6 SENSOR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3584448"/>
            <a:ext cx="1188720" cy="310896"/>
          </a:xfrm>
          <a:prstGeom prst="roundRect">
            <a:avLst/>
          </a:prstGeom>
          <a:solidFill>
            <a:srgbClr val="EBF3F8"/>
          </a:solidFill>
          <a:ln w="13970">
            <a:solidFill>
              <a:srgbClr val="1F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65576" y="3598164"/>
            <a:ext cx="1115568" cy="26517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900" b="1">
                <a:solidFill>
                  <a:srgbClr val="56A6FF"/>
                </a:solidFill>
                <a:latin typeface="Aptos"/>
              </a:defRPr>
            </a:pPr>
            <a:r>
              <a:rPr>
                <a:solidFill>
                  <a:srgbClr val="1D2B39"/>
                </a:solidFill>
              </a:rPr>
              <a:t>LOAD CELLS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36592" y="3584448"/>
            <a:ext cx="1234440" cy="310896"/>
          </a:xfrm>
          <a:prstGeom prst="roundRect">
            <a:avLst/>
          </a:prstGeom>
          <a:solidFill>
            <a:srgbClr val="EBF3F8"/>
          </a:solidFill>
          <a:ln w="13970">
            <a:solidFill>
              <a:srgbClr val="148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73168" y="3598164"/>
            <a:ext cx="1161288" cy="26517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900" b="1">
                <a:solidFill>
                  <a:srgbClr val="37DA9D"/>
                </a:solidFill>
                <a:latin typeface="Aptos"/>
              </a:defRPr>
            </a:pPr>
            <a:r>
              <a:rPr>
                <a:solidFill>
                  <a:srgbClr val="1D2B39"/>
                </a:solidFill>
              </a:rPr>
              <a:t>FIREBASE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160520"/>
            <a:ext cx="5806440" cy="137160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EFF6FF"/>
                </a:solidFill>
                <a:latin typeface="Aptos"/>
              </a:defRPr>
            </a:pPr>
            <a:r>
              <a:rPr>
                <a:solidFill>
                  <a:srgbClr val="1D2B39"/>
                </a:solidFill>
              </a:rPr>
              <a:t>Piyush Rohidas Sonawane (453)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EFF6FF"/>
                </a:solidFill>
                <a:latin typeface="Aptos"/>
              </a:defRPr>
            </a:pPr>
            <a:r>
              <a:rPr>
                <a:solidFill>
                  <a:srgbClr val="1D2B39"/>
                </a:solidFill>
              </a:rPr>
              <a:t>Gaurav Dattatray Shinde (449)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EFF6FF"/>
                </a:solidFill>
                <a:latin typeface="Aptos"/>
              </a:defRPr>
            </a:pPr>
            <a:r>
              <a:rPr>
                <a:solidFill>
                  <a:srgbClr val="1D2B39"/>
                </a:solidFill>
              </a:rPr>
              <a:t>Sakshi Dnyaneshwar Shinde (450)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EFF6FF"/>
                </a:solidFill>
                <a:latin typeface="Aptos"/>
              </a:defRPr>
            </a:pPr>
            <a:r>
              <a:rPr>
                <a:solidFill>
                  <a:srgbClr val="1D2B39"/>
                </a:solidFill>
              </a:rPr>
              <a:t>Shailaja Ashok Sargam (443)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806440"/>
            <a:ext cx="5852160" cy="3200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A1B4CA"/>
                </a:solidFill>
                <a:latin typeface="Aptos"/>
              </a:defRPr>
            </a:pPr>
            <a:r>
              <a:rPr>
                <a:solidFill>
                  <a:srgbClr val="1D2B39"/>
                </a:solidFill>
              </a:rPr>
              <a:t>Guide: Prof. S. P. Tapkire  |  NBNSCOE, Solapur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0" y="502920"/>
            <a:ext cx="4526280" cy="5715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B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1900" y="713232"/>
            <a:ext cx="3827119" cy="38862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498079" y="4617720"/>
            <a:ext cx="3749039" cy="34747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1EDAC3"/>
                </a:solidFill>
                <a:latin typeface="Aptos"/>
              </a:defRPr>
            </a:pPr>
            <a:r>
              <a:rPr>
                <a:solidFill>
                  <a:srgbClr val="1D2B39"/>
                </a:solidFill>
              </a:rPr>
              <a:t>PHYSICAL PROTOTYPE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5074920"/>
            <a:ext cx="3520440" cy="685800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EFF6FF"/>
                </a:solidFill>
                <a:latin typeface="Aptos"/>
              </a:defRPr>
            </a:pPr>
            <a:r>
              <a:rPr>
                <a:solidFill>
                  <a:srgbClr val="1D2B39"/>
                </a:solidFill>
              </a:rPr>
              <a:t>One retrofit platform for gas safety + remaining-mass visibility.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75320" y="5852160"/>
            <a:ext cx="2148840" cy="310896"/>
          </a:xfrm>
          <a:prstGeom prst="roundRect">
            <a:avLst/>
          </a:prstGeom>
          <a:solidFill>
            <a:srgbClr val="EBF3F8"/>
          </a:solidFill>
          <a:ln w="13970">
            <a:solidFill>
              <a:srgbClr val="148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11896" y="5865876"/>
            <a:ext cx="2075688" cy="26517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900" b="1">
                <a:solidFill>
                  <a:srgbClr val="1EDAC3"/>
                </a:solidFill>
                <a:latin typeface="Aptos"/>
              </a:defRPr>
            </a:pPr>
            <a:r>
              <a:rPr>
                <a:solidFill>
                  <a:srgbClr val="1D2B39"/>
                </a:solidFill>
              </a:rPr>
              <a:t>PROJECT OVERVIEW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 nodeType="clickEffect">
                      <p:stCondLst>
                        <p:cond delay="indefinite"/>
                      </p:stCondLst>
                      <p:childTnLst>
                        <p:par>
                          <p:cTn id="30" dur="500" fill="hold">
                            <p:childTnLst>
                              <p:animEffect transition="in" filter="fade">
                                <p:cBhvr>
                                  <p:cTn id="50" dur="500"/>
                                  <p:tgtEl>
                                    <p:spTgt spid="17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37160"/>
            <a:ext cx="731520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1EDAC3"/>
                </a:solidFill>
                <a:latin typeface="Aptos"/>
              </a:defRPr>
            </a:pPr>
            <a:r>
              <a:rPr>
                <a:solidFill>
                  <a:srgbClr val="1D2B39"/>
                </a:solidFill>
              </a:rPr>
              <a:t>ONEGAURD  /  SMART LPG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137160"/>
            <a:ext cx="77724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A1B4CA"/>
                </a:solidFill>
                <a:latin typeface="Aptos"/>
              </a:defRPr>
            </a:pPr>
            <a:r>
              <a:rPr>
                <a:solidFill>
                  <a:srgbClr val="1D2B39"/>
                </a:solidFill>
              </a:rPr>
              <a:t>02 / 08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493776"/>
            <a:ext cx="11338560" cy="16459"/>
          </a:xfrm>
          <a:prstGeom prst="rect">
            <a:avLst/>
          </a:prstGeom>
          <a:solidFill>
            <a:srgbClr val="CBD8E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0936"/>
            <a:ext cx="11064240" cy="43891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defRPr sz="2500" b="1">
                <a:solidFill>
                  <a:srgbClr val="EFF6FF"/>
                </a:solidFill>
                <a:latin typeface="Aptos"/>
              </a:defRPr>
            </a:pPr>
            <a:r>
              <a:rPr>
                <a:solidFill>
                  <a:srgbClr val="1D2B39"/>
                </a:solidFill>
              </a:rPr>
              <a:t>Problem, Objectives &amp; Proposed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088136"/>
            <a:ext cx="10972800" cy="24688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A1B4CA"/>
                </a:solidFill>
                <a:latin typeface="Aptos"/>
              </a:defRPr>
            </a:pPr>
            <a:r>
              <a:rPr>
                <a:solidFill>
                  <a:srgbClr val="1D2B39"/>
                </a:solidFill>
              </a:rPr>
              <a:t>Three connected capabilities, with local safety taking priority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74536"/>
            <a:ext cx="11338560" cy="22860"/>
          </a:xfrm>
          <a:prstGeom prst="rect">
            <a:avLst/>
          </a:prstGeom>
          <a:solidFill>
            <a:srgbClr val="14825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572768"/>
            <a:ext cx="3538728" cy="455371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B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810512"/>
            <a:ext cx="3063240" cy="38404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700" b="1">
                <a:solidFill>
                  <a:srgbClr val="F7565D"/>
                </a:solidFill>
                <a:latin typeface="Aptos"/>
              </a:defRPr>
            </a:pPr>
            <a:r>
              <a:rPr>
                <a:solidFill>
                  <a:srgbClr val="1D2B39"/>
                </a:solidFill>
              </a:rP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313432"/>
            <a:ext cx="3090672" cy="3474720"/>
          </a:xfrm>
          <a:prstGeom prst="rect">
            <a:avLst/>
          </a:prstGeom>
          <a:noFill/>
          <a:ln>
            <a:solidFill/>
          </a:ln>
        </p:spPr>
        <p:txBody>
          <a:bodyPr wrap="square" lIns="118872" rIns="73152" tIns="54864" bIns="27432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EFF6FF"/>
                </a:solidFill>
                <a:latin typeface="Aptos"/>
              </a:defRPr>
            </a:pPr>
            <a:r>
              <a:rPr>
                <a:solidFill>
                  <a:srgbClr val="1D2B39"/>
                </a:solidFill>
              </a:rPr>
              <a:t>•  Unknown remaining gas; unexpected cylinder depletion</a:t>
            </a:r>
          </a:p>
          <a:p>
            <a:pPr>
              <a:spcAft>
                <a:spcPts val="1200"/>
              </a:spcAft>
              <a:defRPr sz="1500">
                <a:solidFill>
                  <a:srgbClr val="EFF6FF"/>
                </a:solidFill>
                <a:latin typeface="Aptos"/>
              </a:defRPr>
            </a:pPr>
            <a:r>
              <a:rPr>
                <a:solidFill>
                  <a:srgbClr val="1D2B39"/>
                </a:solidFill>
              </a:rPr>
              <a:t>•  Leaks may go unnoticed when people are away</a:t>
            </a:r>
          </a:p>
          <a:p>
            <a:pPr>
              <a:spcAft>
                <a:spcPts val="1200"/>
              </a:spcAft>
              <a:defRPr sz="1500">
                <a:solidFill>
                  <a:srgbClr val="EFF6FF"/>
                </a:solidFill>
                <a:latin typeface="Aptos"/>
              </a:defRPr>
            </a:pPr>
            <a:r>
              <a:rPr>
                <a:solidFill>
                  <a:srgbClr val="1D2B39"/>
                </a:solidFill>
              </a:rPr>
              <a:t>•  Standalone alarms do not track cylinder mass</a:t>
            </a:r>
          </a:p>
          <a:p>
            <a:pPr>
              <a:spcAft>
                <a:spcPts val="1200"/>
              </a:spcAft>
              <a:defRPr sz="1500">
                <a:solidFill>
                  <a:srgbClr val="EFF6FF"/>
                </a:solidFill>
                <a:latin typeface="Aptos"/>
              </a:defRPr>
            </a:pPr>
            <a:r>
              <a:rPr>
                <a:solidFill>
                  <a:srgbClr val="1D2B39"/>
                </a:solidFill>
              </a:rPr>
              <a:t>•  Cloud loss must never suppress local safety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572768"/>
            <a:ext cx="3538728" cy="455371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B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810512"/>
            <a:ext cx="3063240" cy="38404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700" b="1">
                <a:solidFill>
                  <a:srgbClr val="1EDAC3"/>
                </a:solidFill>
                <a:latin typeface="Aptos"/>
              </a:defRPr>
            </a:pPr>
            <a:r>
              <a:rPr>
                <a:solidFill>
                  <a:srgbClr val="1D2B39"/>
                </a:solidFill>
              </a:rPr>
              <a:t>OUR SOLUTION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7136" y="2313432"/>
            <a:ext cx="3090672" cy="3474720"/>
          </a:xfrm>
          <a:prstGeom prst="rect">
            <a:avLst/>
          </a:prstGeom>
          <a:noFill/>
          <a:ln>
            <a:solidFill/>
          </a:ln>
        </p:spPr>
        <p:txBody>
          <a:bodyPr wrap="square" lIns="118872" rIns="73152" tIns="54864" bIns="27432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EFF6FF"/>
                </a:solidFill>
                <a:latin typeface="Aptos"/>
              </a:defRPr>
            </a:pPr>
            <a:r>
              <a:rPr>
                <a:solidFill>
                  <a:srgbClr val="1D2B39"/>
                </a:solidFill>
              </a:rPr>
              <a:t>•  MQ-6 sensor provides a combustible-gas signal</a:t>
            </a:r>
          </a:p>
          <a:p>
            <a:pPr>
              <a:spcAft>
                <a:spcPts val="1200"/>
              </a:spcAft>
              <a:defRPr sz="1500">
                <a:solidFill>
                  <a:srgbClr val="EFF6FF"/>
                </a:solidFill>
                <a:latin typeface="Aptos"/>
              </a:defRPr>
            </a:pPr>
            <a:r>
              <a:rPr>
                <a:solidFill>
                  <a:srgbClr val="1D2B39"/>
                </a:solidFill>
              </a:rPr>
              <a:t>•  Load cells + HX711 estimate cylinder mass</a:t>
            </a:r>
          </a:p>
          <a:p>
            <a:pPr>
              <a:spcAft>
                <a:spcPts val="1200"/>
              </a:spcAft>
              <a:defRPr sz="1500">
                <a:solidFill>
                  <a:srgbClr val="EFF6FF"/>
                </a:solidFill>
                <a:latin typeface="Aptos"/>
              </a:defRPr>
            </a:pPr>
            <a:r>
              <a:rPr>
                <a:solidFill>
                  <a:srgbClr val="1D2B39"/>
                </a:solidFill>
              </a:rPr>
              <a:t>•  ESP32 runs local decision logic and Wi-Fi telemetry</a:t>
            </a:r>
          </a:p>
          <a:p>
            <a:pPr>
              <a:spcAft>
                <a:spcPts val="1200"/>
              </a:spcAft>
              <a:defRPr sz="1500">
                <a:solidFill>
                  <a:srgbClr val="EFF6FF"/>
                </a:solidFill>
                <a:latin typeface="Aptos"/>
              </a:defRPr>
            </a:pPr>
            <a:r>
              <a:rPr>
                <a:solidFill>
                  <a:srgbClr val="1D2B39"/>
                </a:solidFill>
              </a:rPr>
              <a:t>•  Dashboard shows status, history and refill estimate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9016" y="1572768"/>
            <a:ext cx="3538728" cy="455371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B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57616" y="1810512"/>
            <a:ext cx="3063240" cy="38404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700" b="1">
                <a:solidFill>
                  <a:srgbClr val="FFB542"/>
                </a:solidFill>
                <a:latin typeface="Aptos"/>
              </a:defRPr>
            </a:pPr>
            <a:r>
              <a:rPr>
                <a:solidFill>
                  <a:srgbClr val="1D2B39"/>
                </a:solidFill>
              </a:rPr>
              <a:t>CORE OBJECTIVES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0184" y="2313432"/>
            <a:ext cx="3090672" cy="3474720"/>
          </a:xfrm>
          <a:prstGeom prst="rect">
            <a:avLst/>
          </a:prstGeom>
          <a:noFill/>
          <a:ln>
            <a:solidFill/>
          </a:ln>
        </p:spPr>
        <p:txBody>
          <a:bodyPr wrap="square" lIns="118872" rIns="73152" tIns="54864" bIns="27432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EFF6FF"/>
                </a:solidFill>
                <a:latin typeface="Aptos"/>
              </a:defRPr>
            </a:pPr>
            <a:r>
              <a:rPr>
                <a:solidFill>
                  <a:srgbClr val="1D2B39"/>
                </a:solidFill>
              </a:rPr>
              <a:t>•  Detect suspected leak and trigger local alarm</a:t>
            </a:r>
          </a:p>
          <a:p>
            <a:pPr>
              <a:spcAft>
                <a:spcPts val="1200"/>
              </a:spcAft>
              <a:defRPr sz="1500">
                <a:solidFill>
                  <a:srgbClr val="EFF6FF"/>
                </a:solidFill>
                <a:latin typeface="Aptos"/>
              </a:defRPr>
            </a:pPr>
            <a:r>
              <a:rPr>
                <a:solidFill>
                  <a:srgbClr val="1D2B39"/>
                </a:solidFill>
              </a:rPr>
              <a:t>•  Calibrate mass and calculate net LPG remaining</a:t>
            </a:r>
          </a:p>
          <a:p>
            <a:pPr>
              <a:spcAft>
                <a:spcPts val="1200"/>
              </a:spcAft>
              <a:defRPr sz="1500">
                <a:solidFill>
                  <a:srgbClr val="EFF6FF"/>
                </a:solidFill>
                <a:latin typeface="Aptos"/>
              </a:defRPr>
            </a:pPr>
            <a:r>
              <a:rPr>
                <a:solidFill>
                  <a:srgbClr val="1D2B39"/>
                </a:solidFill>
              </a:rPr>
              <a:t>•  Securely show device state and event history</a:t>
            </a:r>
          </a:p>
          <a:p>
            <a:pPr>
              <a:spcAft>
                <a:spcPts val="1200"/>
              </a:spcAft>
              <a:defRPr sz="1500">
                <a:solidFill>
                  <a:srgbClr val="EFF6FF"/>
                </a:solidFill>
                <a:latin typeface="Aptos"/>
              </a:defRPr>
            </a:pPr>
            <a:r>
              <a:rPr>
                <a:solidFill>
                  <a:srgbClr val="1D2B39"/>
                </a:solidFill>
              </a:rPr>
              <a:t>•  Add voice/SMS alerts and prediction after validation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37160"/>
            <a:ext cx="731520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1EDAC3"/>
                </a:solidFill>
                <a:latin typeface="Aptos"/>
              </a:defRPr>
            </a:pPr>
            <a:r>
              <a:rPr>
                <a:solidFill>
                  <a:srgbClr val="1D2B39"/>
                </a:solidFill>
              </a:rPr>
              <a:t>ONEGAURD  /  SMART LPG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137160"/>
            <a:ext cx="77724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A1B4CA"/>
                </a:solidFill>
                <a:latin typeface="Aptos"/>
              </a:defRPr>
            </a:pPr>
            <a:r>
              <a:rPr>
                <a:solidFill>
                  <a:srgbClr val="1D2B39"/>
                </a:solidFill>
              </a:rPr>
              <a:t>03 / 08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493776"/>
            <a:ext cx="11338560" cy="16459"/>
          </a:xfrm>
          <a:prstGeom prst="rect">
            <a:avLst/>
          </a:prstGeom>
          <a:solidFill>
            <a:srgbClr val="CBD8E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0936"/>
            <a:ext cx="11064240" cy="43891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defRPr sz="2500" b="1">
                <a:solidFill>
                  <a:srgbClr val="EFF6FF"/>
                </a:solidFill>
                <a:latin typeface="Aptos"/>
              </a:defRPr>
            </a:pPr>
            <a:r>
              <a:rPr>
                <a:solidFill>
                  <a:srgbClr val="1D2B39"/>
                </a:solidFill>
              </a:rPr>
              <a:t>System Architecture &amp; Data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088136"/>
            <a:ext cx="10972800" cy="24688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A1B4CA"/>
                </a:solidFill>
                <a:latin typeface="Aptos"/>
              </a:defRPr>
            </a:pPr>
            <a:r>
              <a:rPr>
                <a:solidFill>
                  <a:srgbClr val="1D2B39"/>
                </a:solidFill>
              </a:rPr>
              <a:t>New architecture visual: device → secure API → Firebase → app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74536"/>
            <a:ext cx="11338560" cy="22860"/>
          </a:xfrm>
          <a:prstGeom prst="rect">
            <a:avLst/>
          </a:prstGeom>
          <a:solidFill>
            <a:srgbClr val="14825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rchitecture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9527" y="1481328"/>
            <a:ext cx="7559040" cy="42519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58368" y="5669280"/>
            <a:ext cx="3429000" cy="548640"/>
          </a:xfrm>
          <a:prstGeom prst="roundRect">
            <a:avLst/>
          </a:prstGeom>
          <a:solidFill>
            <a:srgbClr val="EBF3F8"/>
          </a:solidFill>
          <a:ln w="13970">
            <a:solidFill>
              <a:srgbClr val="148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742432"/>
            <a:ext cx="3200400" cy="34747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1EDAC3"/>
                </a:solidFill>
                <a:latin typeface="Aptos"/>
              </a:defRPr>
            </a:pPr>
            <a:r>
              <a:rPr>
                <a:solidFill>
                  <a:srgbClr val="1D2B39"/>
                </a:solidFill>
              </a:rPr>
              <a:t>LIVE STATE + EVENT HISTORY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5669280"/>
            <a:ext cx="3429000" cy="548640"/>
          </a:xfrm>
          <a:prstGeom prst="roundRect">
            <a:avLst/>
          </a:prstGeom>
          <a:solidFill>
            <a:srgbClr val="EBF3F8"/>
          </a:solidFill>
          <a:ln w="13970">
            <a:solidFill>
              <a:srgbClr val="1F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8848" y="5742432"/>
            <a:ext cx="3200400" cy="34747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56A6FF"/>
                </a:solidFill>
                <a:latin typeface="Aptos"/>
              </a:defRPr>
            </a:pPr>
            <a:r>
              <a:rPr>
                <a:solidFill>
                  <a:srgbClr val="1D2B39"/>
                </a:solidFill>
              </a:rPr>
              <a:t>AUTH + DEVICE OWNERSHIP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5669280"/>
            <a:ext cx="3429000" cy="548640"/>
          </a:xfrm>
          <a:prstGeom prst="roundRect">
            <a:avLst/>
          </a:prstGeom>
          <a:solidFill>
            <a:srgbClr val="EBF3F8"/>
          </a:solidFill>
          <a:ln w="13970">
            <a:solidFill>
              <a:srgbClr val="148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5742432"/>
            <a:ext cx="3200400" cy="34747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37DA9D"/>
                </a:solidFill>
                <a:latin typeface="Aptos"/>
              </a:defRPr>
            </a:pPr>
            <a:r>
              <a:rPr>
                <a:solidFill>
                  <a:srgbClr val="1D2B39"/>
                </a:solidFill>
              </a:rPr>
              <a:t>LOCAL ALARM WORKS OFFLINE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 nodeType="clickEffect">
                      <p:stCondLst>
                        <p:cond delay="indefinite"/>
                      </p:stCondLst>
                      <p:childTnLst>
                        <p:par>
                          <p:cTn id="30" dur="500" fill="hold">
                            <p:childTnLst>
                              <p:animEffect transition="in" filter="fade">
                                <p:cBhvr>
                                  <p:cTn id="50" dur="500"/>
                                  <p:tgtEl>
                                    <p:spTgt spid="8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37160"/>
            <a:ext cx="731520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1EDAC3"/>
                </a:solidFill>
                <a:latin typeface="Aptos"/>
              </a:defRPr>
            </a:pPr>
            <a:r>
              <a:rPr>
                <a:solidFill>
                  <a:srgbClr val="1D2B39"/>
                </a:solidFill>
              </a:rPr>
              <a:t>ONEGAURD  /  SMART LPG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137160"/>
            <a:ext cx="77724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A1B4CA"/>
                </a:solidFill>
                <a:latin typeface="Aptos"/>
              </a:defRPr>
            </a:pPr>
            <a:r>
              <a:rPr>
                <a:solidFill>
                  <a:srgbClr val="1D2B39"/>
                </a:solidFill>
              </a:rPr>
              <a:t>04 / 08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493776"/>
            <a:ext cx="11338560" cy="16459"/>
          </a:xfrm>
          <a:prstGeom prst="rect">
            <a:avLst/>
          </a:prstGeom>
          <a:solidFill>
            <a:srgbClr val="CBD8E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0936"/>
            <a:ext cx="11064240" cy="43891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defRPr sz="2500" b="1">
                <a:solidFill>
                  <a:srgbClr val="EFF6FF"/>
                </a:solidFill>
                <a:latin typeface="Aptos"/>
              </a:defRPr>
            </a:pPr>
            <a:r>
              <a:rPr>
                <a:solidFill>
                  <a:srgbClr val="1D2B39"/>
                </a:solidFill>
              </a:rPr>
              <a:t>Hardware Prototype &amp; Sensor 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088136"/>
            <a:ext cx="10972800" cy="24688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A1B4CA"/>
                </a:solidFill>
                <a:latin typeface="Aptos"/>
              </a:defRPr>
            </a:pPr>
            <a:r>
              <a:rPr>
                <a:solidFill>
                  <a:srgbClr val="1D2B39"/>
                </a:solidFill>
              </a:rPr>
              <a:t>Photo of the project prototype plus practical implementation notes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74536"/>
            <a:ext cx="11338560" cy="22860"/>
          </a:xfrm>
          <a:prstGeom prst="rect">
            <a:avLst/>
          </a:prstGeom>
          <a:solidFill>
            <a:srgbClr val="14825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508760"/>
            <a:ext cx="4983480" cy="47091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B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050" y="1719072"/>
            <a:ext cx="4007218" cy="40690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5815584"/>
            <a:ext cx="443484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A1B4CA"/>
                </a:solidFill>
                <a:latin typeface="Aptos"/>
              </a:defRPr>
            </a:pPr>
            <a:r>
              <a:rPr>
                <a:solidFill>
                  <a:srgbClr val="1D2B39"/>
                </a:solidFill>
              </a:rPr>
              <a:t>Actual project prototype photo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15000" y="1508760"/>
            <a:ext cx="5943600" cy="47091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B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16752" y="1783080"/>
            <a:ext cx="5303520" cy="38404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1EDAC3"/>
                </a:solidFill>
                <a:latin typeface="Aptos"/>
              </a:defRPr>
            </a:pPr>
            <a:r>
              <a:rPr>
                <a:solidFill>
                  <a:srgbClr val="1D2B39"/>
                </a:solidFill>
              </a:rPr>
              <a:t>COMPONENT ROLES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2286000"/>
            <a:ext cx="5257800" cy="3474720"/>
          </a:xfrm>
          <a:prstGeom prst="rect">
            <a:avLst/>
          </a:prstGeom>
          <a:noFill/>
          <a:ln>
            <a:solidFill/>
          </a:ln>
        </p:spPr>
        <p:txBody>
          <a:bodyPr wrap="square" lIns="118872" rIns="73152" tIns="54864" bIns="27432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EFF6FF"/>
                </a:solidFill>
                <a:latin typeface="Aptos"/>
              </a:defRPr>
            </a:pPr>
            <a:r>
              <a:rPr>
                <a:solidFill>
                  <a:srgbClr val="1D2B39"/>
                </a:solidFill>
              </a:rPr>
              <a:t>•  ESP32: sampling, local safety logic and Wi-Fi</a:t>
            </a:r>
          </a:p>
          <a:p>
            <a:pPr>
              <a:spcAft>
                <a:spcPts val="800"/>
              </a:spcAft>
              <a:defRPr sz="1500">
                <a:solidFill>
                  <a:srgbClr val="EFF6FF"/>
                </a:solidFill>
                <a:latin typeface="Aptos"/>
              </a:defRPr>
            </a:pPr>
            <a:r>
              <a:rPr>
                <a:solidFill>
                  <a:srgbClr val="1D2B39"/>
                </a:solidFill>
              </a:rPr>
              <a:t>•  MQ-6: analog combustible-gas signal; warm-up and calibration required</a:t>
            </a:r>
          </a:p>
          <a:p>
            <a:pPr>
              <a:spcAft>
                <a:spcPts val="800"/>
              </a:spcAft>
              <a:defRPr sz="1500">
                <a:solidFill>
                  <a:srgbClr val="EFF6FF"/>
                </a:solidFill>
                <a:latin typeface="Aptos"/>
              </a:defRPr>
            </a:pPr>
            <a:r>
              <a:rPr>
                <a:solidFill>
                  <a:srgbClr val="1D2B39"/>
                </a:solidFill>
              </a:rPr>
              <a:t>•  Load cells + HX711: strain-gauge mass measurement</a:t>
            </a:r>
          </a:p>
          <a:p>
            <a:pPr>
              <a:spcAft>
                <a:spcPts val="800"/>
              </a:spcAft>
              <a:defRPr sz="1500">
                <a:solidFill>
                  <a:srgbClr val="EFF6FF"/>
                </a:solidFill>
                <a:latin typeface="Aptos"/>
              </a:defRPr>
            </a:pPr>
            <a:r>
              <a:rPr>
                <a:solidFill>
                  <a:srgbClr val="1D2B39"/>
                </a:solidFill>
              </a:rPr>
              <a:t>•  Buzzer / indicator: local warning independent of cloud</a:t>
            </a:r>
          </a:p>
          <a:p>
            <a:pPr>
              <a:spcAft>
                <a:spcPts val="800"/>
              </a:spcAft>
              <a:defRPr sz="1500">
                <a:solidFill>
                  <a:srgbClr val="EFF6FF"/>
                </a:solidFill>
                <a:latin typeface="Aptos"/>
              </a:defRPr>
            </a:pPr>
            <a:r>
              <a:rPr>
                <a:solidFill>
                  <a:srgbClr val="1D2B39"/>
                </a:solidFill>
              </a:rPr>
              <a:t>•  Platform: stable load paths and low off-centre measurement error</a:t>
            </a:r>
          </a:p>
          <a:p>
            <a:pPr>
              <a:spcAft>
                <a:spcPts val="800"/>
              </a:spcAft>
              <a:defRPr sz="1500">
                <a:solidFill>
                  <a:srgbClr val="EFF6FF"/>
                </a:solidFill>
                <a:latin typeface="Aptos"/>
              </a:defRPr>
            </a:pPr>
            <a:r>
              <a:rPr>
                <a:solidFill>
                  <a:srgbClr val="1D2B39"/>
                </a:solidFill>
              </a:rPr>
              <a:t>•  DHT22, OLED, GSM, battery: proposed unless physically installed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 nodeType="clickEffect">
                      <p:stCondLst>
                        <p:cond delay="indefinite"/>
                      </p:stCondLst>
                      <p:childTnLst>
                        <p:par>
                          <p:cTn id="30" dur="500" fill="hold">
                            <p:childTnLst>
                              <p:animEffect transition="in" filter="fade">
                                <p:cBhvr>
                                  <p:cTn id="50" dur="500"/>
                                  <p:tgtEl>
                                    <p:spTgt spid="9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37160"/>
            <a:ext cx="731520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1EDAC3"/>
                </a:solidFill>
                <a:latin typeface="Aptos"/>
              </a:defRPr>
            </a:pPr>
            <a:r>
              <a:rPr>
                <a:solidFill>
                  <a:srgbClr val="1D2B39"/>
                </a:solidFill>
              </a:rPr>
              <a:t>ONEGAURD  /  SMART LPG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137160"/>
            <a:ext cx="77724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A1B4CA"/>
                </a:solidFill>
                <a:latin typeface="Aptos"/>
              </a:defRPr>
            </a:pPr>
            <a:r>
              <a:rPr>
                <a:solidFill>
                  <a:srgbClr val="1D2B39"/>
                </a:solidFill>
              </a:rPr>
              <a:t>05 / 08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493776"/>
            <a:ext cx="11338560" cy="16459"/>
          </a:xfrm>
          <a:prstGeom prst="rect">
            <a:avLst/>
          </a:prstGeom>
          <a:solidFill>
            <a:srgbClr val="CBD8E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0936"/>
            <a:ext cx="11064240" cy="43891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defRPr sz="2500" b="1">
                <a:solidFill>
                  <a:srgbClr val="EFF6FF"/>
                </a:solidFill>
                <a:latin typeface="Aptos"/>
              </a:defRPr>
            </a:pPr>
            <a:r>
              <a:rPr>
                <a:solidFill>
                  <a:srgbClr val="1D2B39"/>
                </a:solidFill>
              </a:rPr>
              <a:t>Firmware Workflow — Local Safety 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088136"/>
            <a:ext cx="10972800" cy="24688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A1B4CA"/>
                </a:solidFill>
                <a:latin typeface="Aptos"/>
              </a:defRPr>
            </a:pPr>
            <a:r>
              <a:rPr>
                <a:solidFill>
                  <a:srgbClr val="1D2B39"/>
                </a:solidFill>
              </a:rPr>
              <a:t>Leak evaluation runs before any network operation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74536"/>
            <a:ext cx="11338560" cy="22860"/>
          </a:xfrm>
          <a:prstGeom prst="rect">
            <a:avLst/>
          </a:prstGeom>
          <a:solidFill>
            <a:srgbClr val="14825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firmware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0260" y="1435608"/>
            <a:ext cx="8046720" cy="45262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68680" y="6007608"/>
            <a:ext cx="2286000" cy="310896"/>
          </a:xfrm>
          <a:prstGeom prst="roundRect">
            <a:avLst/>
          </a:prstGeom>
          <a:solidFill>
            <a:srgbClr val="EBF3F8"/>
          </a:solidFill>
          <a:ln w="13970">
            <a:solidFill>
              <a:srgbClr val="B8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" y="6021324"/>
            <a:ext cx="2212848" cy="26517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900" b="1">
                <a:solidFill>
                  <a:srgbClr val="F7565D"/>
                </a:solidFill>
                <a:latin typeface="Aptos"/>
              </a:defRPr>
            </a:pPr>
            <a:r>
              <a:rPr>
                <a:solidFill>
                  <a:srgbClr val="1D2B39"/>
                </a:solidFill>
              </a:rPr>
              <a:t>LOCAL ALARM FIRST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6007608"/>
            <a:ext cx="2514600" cy="310896"/>
          </a:xfrm>
          <a:prstGeom prst="roundRect">
            <a:avLst/>
          </a:prstGeom>
          <a:solidFill>
            <a:srgbClr val="EBF3F8"/>
          </a:solidFill>
          <a:ln w="13970">
            <a:solidFill>
              <a:srgbClr val="9D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65576" y="6021324"/>
            <a:ext cx="2441448" cy="26517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900" b="1">
                <a:solidFill>
                  <a:srgbClr val="FFB542"/>
                </a:solidFill>
                <a:latin typeface="Aptos"/>
              </a:defRPr>
            </a:pPr>
            <a:r>
              <a:rPr>
                <a:solidFill>
                  <a:srgbClr val="1D2B39"/>
                </a:solidFill>
              </a:rPr>
              <a:t>SENSOR FAULT ≠ NORMAL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6007608"/>
            <a:ext cx="2514600" cy="310896"/>
          </a:xfrm>
          <a:prstGeom prst="roundRect">
            <a:avLst/>
          </a:prstGeom>
          <a:solidFill>
            <a:srgbClr val="EBF3F8"/>
          </a:solidFill>
          <a:ln w="13970">
            <a:solidFill>
              <a:srgbClr val="148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54496" y="6021324"/>
            <a:ext cx="2441448" cy="26517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900" b="1">
                <a:solidFill>
                  <a:srgbClr val="37DA9D"/>
                </a:solidFill>
                <a:latin typeface="Aptos"/>
              </a:defRPr>
            </a:pPr>
            <a:r>
              <a:rPr>
                <a:solidFill>
                  <a:srgbClr val="1D2B39"/>
                </a:solidFill>
              </a:rPr>
              <a:t>NETWORK IS OPTIONAL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06840" y="6007608"/>
            <a:ext cx="2286000" cy="310896"/>
          </a:xfrm>
          <a:prstGeom prst="roundRect">
            <a:avLst/>
          </a:prstGeom>
          <a:solidFill>
            <a:srgbClr val="EBF3F8"/>
          </a:solidFill>
          <a:ln w="13970">
            <a:solidFill>
              <a:srgbClr val="1F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43415" y="6021324"/>
            <a:ext cx="2212848" cy="265176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900" b="1">
                <a:solidFill>
                  <a:srgbClr val="56A6FF"/>
                </a:solidFill>
                <a:latin typeface="Aptos"/>
              </a:defRPr>
            </a:pPr>
            <a:r>
              <a:rPr>
                <a:solidFill>
                  <a:srgbClr val="1D2B39"/>
                </a:solidFill>
              </a:rPr>
              <a:t>RETRY WHEN ONLINE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 nodeType="clickEffect">
                      <p:stCondLst>
                        <p:cond delay="indefinite"/>
                      </p:stCondLst>
                      <p:childTnLst>
                        <p:par>
                          <p:cTn id="30" dur="500" fill="hold">
                            <p:childTnLst>
                              <p:animEffect transition="in" filter="fade">
                                <p:cBhvr>
                                  <p:cTn id="50" dur="500"/>
                                  <p:tgtEl>
                                    <p:spTgt spid="8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37160"/>
            <a:ext cx="731520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1EDAC3"/>
                </a:solidFill>
                <a:latin typeface="Aptos"/>
              </a:defRPr>
            </a:pPr>
            <a:r>
              <a:rPr>
                <a:solidFill>
                  <a:srgbClr val="1D2B39"/>
                </a:solidFill>
              </a:rPr>
              <a:t>ONEGAURD  /  SMART LPG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137160"/>
            <a:ext cx="77724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A1B4CA"/>
                </a:solidFill>
                <a:latin typeface="Aptos"/>
              </a:defRPr>
            </a:pPr>
            <a:r>
              <a:rPr>
                <a:solidFill>
                  <a:srgbClr val="1D2B39"/>
                </a:solidFill>
              </a:rPr>
              <a:t>06 / 08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493776"/>
            <a:ext cx="11338560" cy="16459"/>
          </a:xfrm>
          <a:prstGeom prst="rect">
            <a:avLst/>
          </a:prstGeom>
          <a:solidFill>
            <a:srgbClr val="CBD8E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0936"/>
            <a:ext cx="11064240" cy="43891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defRPr sz="2500" b="1">
                <a:solidFill>
                  <a:srgbClr val="EFF6FF"/>
                </a:solidFill>
                <a:latin typeface="Aptos"/>
              </a:defRPr>
            </a:pPr>
            <a:r>
              <a:rPr>
                <a:solidFill>
                  <a:srgbClr val="1D2B39"/>
                </a:solidFill>
              </a:rPr>
              <a:t>Dashboard, Firebase &amp; Twilio Voice/SMS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088136"/>
            <a:ext cx="10972800" cy="24688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A1B4CA"/>
                </a:solidFill>
                <a:latin typeface="Aptos"/>
              </a:defRPr>
            </a:pPr>
            <a:r>
              <a:rPr>
                <a:solidFill>
                  <a:srgbClr val="1D2B39"/>
                </a:solidFill>
              </a:rPr>
              <a:t>New alert-pipeline visual; secrets remain on the backend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74536"/>
            <a:ext cx="11338560" cy="22860"/>
          </a:xfrm>
          <a:prstGeom prst="rect">
            <a:avLst/>
          </a:prstGeom>
          <a:solidFill>
            <a:srgbClr val="14825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alerts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6668" y="1399032"/>
            <a:ext cx="7559040" cy="42519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58368" y="5596128"/>
            <a:ext cx="5349240" cy="658368"/>
          </a:xfrm>
          <a:prstGeom prst="roundRect">
            <a:avLst/>
          </a:prstGeom>
          <a:solidFill>
            <a:srgbClr val="EBF3F8"/>
          </a:solidFill>
          <a:ln w="13970">
            <a:solidFill>
              <a:srgbClr val="1482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669280"/>
            <a:ext cx="5029200" cy="438912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1EDAC3"/>
                </a:solidFill>
                <a:latin typeface="Aptos"/>
              </a:defRPr>
            </a:pPr>
            <a:r>
              <a:rPr>
                <a:solidFill>
                  <a:srgbClr val="1D2B39"/>
                </a:solidFill>
              </a:rPr>
              <a:t>Dashboard: Dashboard • Devices • Event Log • Settings • Account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5596128"/>
            <a:ext cx="5349240" cy="658368"/>
          </a:xfrm>
          <a:prstGeom prst="roundRect">
            <a:avLst/>
          </a:prstGeom>
          <a:solidFill>
            <a:srgbClr val="EBF3F8"/>
          </a:solidFill>
          <a:ln w="13970">
            <a:solidFill>
              <a:srgbClr val="9D5E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5669280"/>
            <a:ext cx="5029200" cy="438912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FFB542"/>
                </a:solidFill>
                <a:latin typeface="Aptos"/>
              </a:defRPr>
            </a:pPr>
            <a:r>
              <a:rPr>
                <a:solidFill>
                  <a:srgbClr val="1D2B39"/>
                </a:solidFill>
              </a:rPr>
              <a:t>Twilio needs valid credentials, verified recipients and delivery tests</a:t>
            </a:r>
          </a:p>
        </p:txBody>
      </p:sp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 nodeType="clickEffect">
                      <p:stCondLst>
                        <p:cond delay="indefinite"/>
                      </p:stCondLst>
                      <p:childTnLst>
                        <p:par>
                          <p:cTn id="30" dur="500" fill="hold">
                            <p:childTnLst>
                              <p:animEffect transition="in" filter="fade">
                                <p:cBhvr>
                                  <p:cTn id="50" dur="500"/>
                                  <p:tgtEl>
                                    <p:spTgt spid="8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37160"/>
            <a:ext cx="731520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1EDAC3"/>
                </a:solidFill>
                <a:latin typeface="Aptos"/>
              </a:defRPr>
            </a:pPr>
            <a:r>
              <a:rPr>
                <a:solidFill>
                  <a:srgbClr val="1D2B39"/>
                </a:solidFill>
              </a:rPr>
              <a:t>ONEGAURD  /  SMART LPG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137160"/>
            <a:ext cx="77724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A1B4CA"/>
                </a:solidFill>
                <a:latin typeface="Aptos"/>
              </a:defRPr>
            </a:pPr>
            <a:r>
              <a:rPr>
                <a:solidFill>
                  <a:srgbClr val="1D2B39"/>
                </a:solidFill>
              </a:rPr>
              <a:t>07 / 08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493776"/>
            <a:ext cx="11338560" cy="16459"/>
          </a:xfrm>
          <a:prstGeom prst="rect">
            <a:avLst/>
          </a:prstGeom>
          <a:solidFill>
            <a:srgbClr val="CBD8E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0936"/>
            <a:ext cx="11064240" cy="43891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defRPr sz="2500" b="1">
                <a:solidFill>
                  <a:srgbClr val="EFF6FF"/>
                </a:solidFill>
                <a:latin typeface="Aptos"/>
              </a:defRPr>
            </a:pPr>
            <a:r>
              <a:rPr>
                <a:solidFill>
                  <a:srgbClr val="1D2B39"/>
                </a:solidFill>
              </a:rPr>
              <a:t>Testing &amp; Validation — Evidence Before Claims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088136"/>
            <a:ext cx="10972800" cy="24688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A1B4CA"/>
                </a:solidFill>
                <a:latin typeface="Aptos"/>
              </a:defRPr>
            </a:pPr>
            <a:r>
              <a:rPr>
                <a:solidFill>
                  <a:srgbClr val="1D2B39"/>
                </a:solidFill>
              </a:rPr>
              <a:t>Larger test text and dedicated test-plan graphic for clear presentation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74536"/>
            <a:ext cx="11338560" cy="22860"/>
          </a:xfrm>
          <a:prstGeom prst="rect">
            <a:avLst/>
          </a:prstGeom>
          <a:solidFill>
            <a:srgbClr val="14825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est_plan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8648" y="1399032"/>
            <a:ext cx="8940800" cy="5029200"/>
          </a:xfrm>
          <a:prstGeom prst="rect">
            <a:avLst/>
          </a:prstGeom>
        </p:spPr>
      </p:pic>
    </p:spTree>
  </p:cSld>
  <p:clrMapOvr>
    <a:masterClrMapping/>
  </p:clrMapOvr>
  <p:transition spd="med" advClick="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 nodeType="clickEffect">
                      <p:stCondLst>
                        <p:cond delay="indefinite"/>
                      </p:stCondLst>
                      <p:childTnLst>
                        <p:par>
                          <p:cTn id="30" dur="500" fill="hold">
                            <p:childTnLst>
                              <p:animEffect transition="in" filter="fade">
                                <p:cBhvr>
                                  <p:cTn id="50" dur="500"/>
                                  <p:tgtEl>
                                    <p:spTgt spid="8"/>
                                  </p:tgtEl>
                                  <p:attrNameLst>
                                    <p:attrName>style.opacity</p:attrName>
                                  </p:attrNameLst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37160"/>
            <a:ext cx="731520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defRPr sz="1100" b="1">
                <a:solidFill>
                  <a:srgbClr val="1EDAC3"/>
                </a:solidFill>
                <a:latin typeface="Aptos"/>
              </a:defRPr>
            </a:pPr>
            <a:r>
              <a:rPr>
                <a:solidFill>
                  <a:srgbClr val="1D2B39"/>
                </a:solidFill>
              </a:rPr>
              <a:t>ONEGAURD  /  SMART LPG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137160"/>
            <a:ext cx="77724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A1B4CA"/>
                </a:solidFill>
                <a:latin typeface="Aptos"/>
              </a:defRPr>
            </a:pPr>
            <a:r>
              <a:rPr>
                <a:solidFill>
                  <a:srgbClr val="1D2B39"/>
                </a:solidFill>
              </a:rPr>
              <a:t>08 / 08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493776"/>
            <a:ext cx="11338560" cy="16459"/>
          </a:xfrm>
          <a:prstGeom prst="rect">
            <a:avLst/>
          </a:prstGeom>
          <a:solidFill>
            <a:srgbClr val="CBD8E2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0936"/>
            <a:ext cx="11064240" cy="438912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defRPr sz="2500" b="1">
                <a:solidFill>
                  <a:srgbClr val="EFF6FF"/>
                </a:solidFill>
                <a:latin typeface="Aptos"/>
              </a:defRPr>
            </a:pPr>
            <a:r>
              <a:rPr>
                <a:solidFill>
                  <a:srgbClr val="1D2B39"/>
                </a:solidFill>
              </a:rPr>
              <a:t>Calculations, Roadmap &amp;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088136"/>
            <a:ext cx="10972800" cy="24688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A1B4CA"/>
                </a:solidFill>
                <a:latin typeface="Aptos"/>
              </a:defRPr>
            </a:pPr>
            <a:r>
              <a:rPr>
                <a:solidFill>
                  <a:srgbClr val="1D2B39"/>
                </a:solidFill>
              </a:rPr>
              <a:t>Engineering calculations are explicit; unmeasured performance is not claimed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6574536"/>
            <a:ext cx="11338560" cy="22860"/>
          </a:xfrm>
          <a:prstGeom prst="rect">
            <a:avLst/>
          </a:prstGeom>
          <a:solidFill>
            <a:srgbClr val="14825B"/>
          </a:solidFill>
          <a:ln>
            <a:solid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2920" y="1508760"/>
            <a:ext cx="5394960" cy="455371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B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783080"/>
            <a:ext cx="4800600" cy="38404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700" b="1">
                <a:solidFill>
                  <a:srgbClr val="1EDAC3"/>
                </a:solidFill>
                <a:latin typeface="Aptos"/>
              </a:defRPr>
            </a:pPr>
            <a:r>
              <a:rPr>
                <a:solidFill>
                  <a:srgbClr val="1D2B39"/>
                </a:solidFill>
              </a:rPr>
              <a:t>WEIGHT / CAPACITY CALCULATION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331720"/>
            <a:ext cx="4663440" cy="1024128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400"/>
              </a:spcAft>
              <a:defRPr sz="1600" b="0">
                <a:solidFill>
                  <a:srgbClr val="EFF6FF"/>
                </a:solidFill>
                <a:latin typeface="Aptos"/>
              </a:defRPr>
            </a:pPr>
            <a:r>
              <a:rPr>
                <a:solidFill>
                  <a:srgbClr val="1D2B39"/>
                </a:solidFill>
              </a:rPr>
              <a:t>Net LPG = Gross mass − Cylinder tare</a:t>
            </a:r>
          </a:p>
          <a:p>
            <a:pPr algn="l">
              <a:spcAft>
                <a:spcPts val="400"/>
              </a:spcAft>
              <a:defRPr sz="1600" b="0">
                <a:solidFill>
                  <a:srgbClr val="EFF6FF"/>
                </a:solidFill>
                <a:latin typeface="Aptos"/>
              </a:defRPr>
            </a:pPr>
            <a:r>
              <a:rPr>
                <a:solidFill>
                  <a:srgbClr val="1D2B39"/>
                </a:solidFill>
              </a:rPr>
              <a:t>Remaining % = Net LPG ÷ Rated net capacity × 100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547872"/>
            <a:ext cx="4754880" cy="1143000"/>
          </a:xfrm>
          <a:prstGeom prst="roundRect">
            <a:avLst/>
          </a:prstGeom>
          <a:solidFill>
            <a:srgbClr val="EBF3F8"/>
          </a:solidFill>
          <a:ln w="13970">
            <a:solidFill>
              <a:srgbClr val="1F6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703320"/>
            <a:ext cx="4389120" cy="822960"/>
          </a:xfrm>
          <a:prstGeom prst="rect">
            <a:avLst/>
          </a:prstGeom>
          <a:noFill/>
          <a:ln>
            <a:solidFill/>
          </a:ln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400"/>
              </a:spcAft>
              <a:defRPr sz="1500" b="1">
                <a:solidFill>
                  <a:srgbClr val="56A6FF"/>
                </a:solidFill>
                <a:latin typeface="Aptos"/>
              </a:defRPr>
            </a:pPr>
            <a:r>
              <a:rPr>
                <a:solidFill>
                  <a:srgbClr val="1D2B39"/>
                </a:solidFill>
              </a:rPr>
              <a:t>Example dashboard: 23.55 − 15.10 = 8.45 kg</a:t>
            </a:r>
          </a:p>
          <a:p>
            <a:pPr algn="ctr">
              <a:spcAft>
                <a:spcPts val="400"/>
              </a:spcAft>
              <a:defRPr sz="1500" b="1">
                <a:solidFill>
                  <a:srgbClr val="56A6FF"/>
                </a:solidFill>
                <a:latin typeface="Aptos"/>
              </a:defRPr>
            </a:pPr>
            <a:r>
              <a:rPr>
                <a:solidFill>
                  <a:srgbClr val="1D2B39"/>
                </a:solidFill>
              </a:rPr>
              <a:t>8.45 ÷ 14.2 ≈ 59.5% (about 60%)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956048"/>
            <a:ext cx="4709160" cy="77724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300" b="1">
                <a:solidFill>
                  <a:srgbClr val="FFB542"/>
                </a:solidFill>
                <a:latin typeface="Aptos"/>
              </a:defRPr>
            </a:pPr>
            <a:r>
              <a:rPr>
                <a:solidFill>
                  <a:srgbClr val="1D2B39"/>
                </a:solidFill>
              </a:rPr>
              <a:t>MQ-6 ADC is a raw module reading—not ppm—until properly calibrated.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508760"/>
            <a:ext cx="5532120" cy="455371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BD8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783080"/>
            <a:ext cx="4983480" cy="384048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  <a:defRPr sz="1700" b="1">
                <a:solidFill>
                  <a:srgbClr val="1EDAC3"/>
                </a:solidFill>
                <a:latin typeface="Aptos"/>
              </a:defRPr>
            </a:pPr>
            <a:r>
              <a:rPr>
                <a:solidFill>
                  <a:srgbClr val="1D2B39"/>
                </a:solidFill>
              </a:rPr>
              <a:t>IMPLEMENTATION ROADMAP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286000"/>
            <a:ext cx="4937760" cy="2377440"/>
          </a:xfrm>
          <a:prstGeom prst="rect">
            <a:avLst/>
          </a:prstGeom>
          <a:noFill/>
          <a:ln>
            <a:solidFill/>
          </a:ln>
        </p:spPr>
        <p:txBody>
          <a:bodyPr wrap="square" lIns="118872" rIns="73152" tIns="54864" bIns="27432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EFF6FF"/>
                </a:solidFill>
                <a:latin typeface="Aptos"/>
              </a:defRPr>
            </a:pPr>
            <a:r>
              <a:rPr>
                <a:solidFill>
                  <a:srgbClr val="1D2B39"/>
                </a:solidFill>
              </a:rPr>
              <a:t>•  Calibrate each load-cell assembly and validate MQ-6 threshold</a:t>
            </a:r>
          </a:p>
          <a:p>
            <a:pPr>
              <a:spcAft>
                <a:spcPts val="700"/>
              </a:spcAft>
              <a:defRPr sz="1400">
                <a:solidFill>
                  <a:srgbClr val="EFF6FF"/>
                </a:solidFill>
                <a:latin typeface="Aptos"/>
              </a:defRPr>
            </a:pPr>
            <a:r>
              <a:rPr>
                <a:solidFill>
                  <a:srgbClr val="1D2B39"/>
                </a:solidFill>
              </a:rPr>
              <a:t>•  Test local alarm with Wi-Fi disconnected</a:t>
            </a:r>
          </a:p>
          <a:p>
            <a:pPr>
              <a:spcAft>
                <a:spcPts val="700"/>
              </a:spcAft>
              <a:defRPr sz="1400">
                <a:solidFill>
                  <a:srgbClr val="EFF6FF"/>
                </a:solidFill>
                <a:latin typeface="Aptos"/>
              </a:defRPr>
            </a:pPr>
            <a:r>
              <a:rPr>
                <a:solidFill>
                  <a:srgbClr val="1D2B39"/>
                </a:solidFill>
              </a:rPr>
              <a:t>•  Secure Firebase rules and device authentication</a:t>
            </a:r>
          </a:p>
          <a:p>
            <a:pPr>
              <a:spcAft>
                <a:spcPts val="700"/>
              </a:spcAft>
              <a:defRPr sz="1400">
                <a:solidFill>
                  <a:srgbClr val="EFF6FF"/>
                </a:solidFill>
                <a:latin typeface="Aptos"/>
              </a:defRPr>
            </a:pPr>
            <a:r>
              <a:rPr>
                <a:solidFill>
                  <a:srgbClr val="1D2B39"/>
                </a:solidFill>
              </a:rPr>
              <a:t>•  Verify Twilio call/SMS delivery and error handling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4892040"/>
            <a:ext cx="4892040" cy="777240"/>
          </a:xfrm>
          <a:prstGeom prst="roundRect">
            <a:avLst/>
          </a:prstGeom>
          <a:solidFill>
            <a:srgbClr val="EBF3F8"/>
          </a:solidFill>
          <a:ln w="13970">
            <a:solidFill>
              <a:srgbClr val="B831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47104" y="5001768"/>
            <a:ext cx="4617720" cy="502920"/>
          </a:xfrm>
          <a:prstGeom prst="rect">
            <a:avLst/>
          </a:prstGeom>
          <a:noFill/>
          <a:ln>
            <a:solidFill/>
          </a:ln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400"/>
              </a:spcAft>
              <a:defRPr sz="1200" b="1">
                <a:solidFill>
                  <a:srgbClr val="F7565D"/>
                </a:solidFill>
                <a:latin typeface="Aptos"/>
              </a:defRPr>
            </a:pPr>
            <a:r>
              <a:rPr>
                <a:solidFill>
                  <a:srgbClr val="1D2B39"/>
                </a:solidFill>
              </a:rPr>
              <a:t>Prototype only — not certified safety equipment. Keep approved LPG safety devices.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5833872"/>
            <a:ext cx="475488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400"/>
              </a:spcAft>
              <a:defRPr sz="1100" b="0">
                <a:solidFill>
                  <a:srgbClr val="A1B4CA"/>
                </a:solidFill>
                <a:latin typeface="Aptos"/>
              </a:defRPr>
            </a:pPr>
            <a:r>
              <a:rPr>
                <a:solidFill>
                  <a:srgbClr val="1D2B39"/>
                </a:solidFill>
              </a:rPr>
              <a:t>Future: battery backup • GSM fallback • refill prediction</a:t>
            </a:r>
          </a:p>
        </p:txBody>
      </p:sp>
    </p:spTree>
  </p:cSld>
  <p:clrMapOvr>
    <a:masterClrMapping/>
  </p:clrMapOvr>
  <p:transition spd="med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